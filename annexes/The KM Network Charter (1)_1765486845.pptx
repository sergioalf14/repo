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5"/>
  </p:sldMasterIdLst>
  <p:sldIdLst>
    <p:sldId id="256" r:id="rId6"/>
  </p:sldIdLst>
  <p:sldSz cx="18288000" cy="10287000"/>
  <p:notesSz cx="6858000" cy="9144000"/>
  <p:embeddedFontLst>
    <p:embeddedFont>
      <p:font typeface="Canva Sans" panose="020B0604020202020204" charset="0"/>
      <p:regular r:id="rId7"/>
    </p:embeddedFont>
    <p:embeddedFont>
      <p:font typeface="Canva Sans Italics" panose="020B0604020202020204" charset="0"/>
      <p:regular r:id="rId8"/>
      <p:italic r:id="rId9"/>
    </p:embeddedFont>
    <p:embeddedFont>
      <p:font typeface="Microsoft Sans Serif" panose="020B0604020202020204" pitchFamily="34" charset="0"/>
      <p:regular r:id="rId10"/>
    </p:embeddedFont>
  </p:embeddedFontLst>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1D9A04-FAB3-9975-7B5A-FD5A2A6FAAAC}" v="171" dt="2025-04-25T10:29:06.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38" autoAdjust="0"/>
  </p:normalViewPr>
  <p:slideViewPr>
    <p:cSldViewPr>
      <p:cViewPr>
        <p:scale>
          <a:sx n="75" d="100"/>
          <a:sy n="75" d="100"/>
        </p:scale>
        <p:origin x="3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gs" Target="tags/tag1.xml"/><Relationship Id="rId5" Type="http://schemas.openxmlformats.org/officeDocument/2006/relationships/slideMaster" Target="slideMasters/slideMaster1.xml"/><Relationship Id="rId15" Type="http://schemas.openxmlformats.org/officeDocument/2006/relationships/tableStyles" Target="tableStyles.xml"/><Relationship Id="rId10" Type="http://schemas.openxmlformats.org/officeDocument/2006/relationships/font" Target="fonts/font4.fntdata"/><Relationship Id="rId4" Type="http://schemas.openxmlformats.org/officeDocument/2006/relationships/customXml" Target="../customXml/item4.xml"/><Relationship Id="rId9" Type="http://schemas.openxmlformats.org/officeDocument/2006/relationships/font" Target="fonts/font3.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z, Rocio" userId="S::rocio.sanz@wto.org::e646624a-0748-4a86-be83-4873000cccd0" providerId="AD" clId="Web-{EE1D9A04-FAB3-9975-7B5A-FD5A2A6FAAAC}"/>
    <pc:docChg chg="modSld">
      <pc:chgData name="Sanz, Rocio" userId="S::rocio.sanz@wto.org::e646624a-0748-4a86-be83-4873000cccd0" providerId="AD" clId="Web-{EE1D9A04-FAB3-9975-7B5A-FD5A2A6FAAAC}" dt="2025-04-25T10:29:06.082" v="103" actId="20577"/>
      <pc:docMkLst>
        <pc:docMk/>
      </pc:docMkLst>
      <pc:sldChg chg="modSp">
        <pc:chgData name="Sanz, Rocio" userId="S::rocio.sanz@wto.org::e646624a-0748-4a86-be83-4873000cccd0" providerId="AD" clId="Web-{EE1D9A04-FAB3-9975-7B5A-FD5A2A6FAAAC}" dt="2025-04-25T10:29:06.082" v="103" actId="20577"/>
        <pc:sldMkLst>
          <pc:docMk/>
          <pc:sldMk cId="0" sldId="256"/>
        </pc:sldMkLst>
        <pc:spChg chg="mod">
          <ac:chgData name="Sanz, Rocio" userId="S::rocio.sanz@wto.org::e646624a-0748-4a86-be83-4873000cccd0" providerId="AD" clId="Web-{EE1D9A04-FAB3-9975-7B5A-FD5A2A6FAAAC}" dt="2025-04-25T10:11:51.251" v="3" actId="14100"/>
          <ac:spMkLst>
            <pc:docMk/>
            <pc:sldMk cId="0" sldId="256"/>
            <ac:spMk id="67" creationId="{00000000-0000-0000-0000-000000000000}"/>
          </ac:spMkLst>
        </pc:spChg>
        <pc:spChg chg="mod">
          <ac:chgData name="Sanz, Rocio" userId="S::rocio.sanz@wto.org::e646624a-0748-4a86-be83-4873000cccd0" providerId="AD" clId="Web-{EE1D9A04-FAB3-9975-7B5A-FD5A2A6FAAAC}" dt="2025-04-25T10:23:03.716" v="6" actId="20577"/>
          <ac:spMkLst>
            <pc:docMk/>
            <pc:sldMk cId="0" sldId="256"/>
            <ac:spMk id="80" creationId="{00000000-0000-0000-0000-000000000000}"/>
          </ac:spMkLst>
        </pc:spChg>
        <pc:spChg chg="mod">
          <ac:chgData name="Sanz, Rocio" userId="S::rocio.sanz@wto.org::e646624a-0748-4a86-be83-4873000cccd0" providerId="AD" clId="Web-{EE1D9A04-FAB3-9975-7B5A-FD5A2A6FAAAC}" dt="2025-04-25T10:23:24.982" v="9" actId="20577"/>
          <ac:spMkLst>
            <pc:docMk/>
            <pc:sldMk cId="0" sldId="256"/>
            <ac:spMk id="81" creationId="{00000000-0000-0000-0000-000000000000}"/>
          </ac:spMkLst>
        </pc:spChg>
        <pc:spChg chg="mod">
          <ac:chgData name="Sanz, Rocio" userId="S::rocio.sanz@wto.org::e646624a-0748-4a86-be83-4873000cccd0" providerId="AD" clId="Web-{EE1D9A04-FAB3-9975-7B5A-FD5A2A6FAAAC}" dt="2025-04-25T10:23:53.795" v="16" actId="20577"/>
          <ac:spMkLst>
            <pc:docMk/>
            <pc:sldMk cId="0" sldId="256"/>
            <ac:spMk id="82" creationId="{00000000-0000-0000-0000-000000000000}"/>
          </ac:spMkLst>
        </pc:spChg>
        <pc:spChg chg="mod">
          <ac:chgData name="Sanz, Rocio" userId="S::rocio.sanz@wto.org::e646624a-0748-4a86-be83-4873000cccd0" providerId="AD" clId="Web-{EE1D9A04-FAB3-9975-7B5A-FD5A2A6FAAAC}" dt="2025-04-25T10:24:17.405" v="23" actId="20577"/>
          <ac:spMkLst>
            <pc:docMk/>
            <pc:sldMk cId="0" sldId="256"/>
            <ac:spMk id="83" creationId="{00000000-0000-0000-0000-000000000000}"/>
          </ac:spMkLst>
        </pc:spChg>
        <pc:spChg chg="mod">
          <ac:chgData name="Sanz, Rocio" userId="S::rocio.sanz@wto.org::e646624a-0748-4a86-be83-4873000cccd0" providerId="AD" clId="Web-{EE1D9A04-FAB3-9975-7B5A-FD5A2A6FAAAC}" dt="2025-04-25T10:24:39.843" v="28" actId="20577"/>
          <ac:spMkLst>
            <pc:docMk/>
            <pc:sldMk cId="0" sldId="256"/>
            <ac:spMk id="84" creationId="{00000000-0000-0000-0000-000000000000}"/>
          </ac:spMkLst>
        </pc:spChg>
        <pc:spChg chg="mod">
          <ac:chgData name="Sanz, Rocio" userId="S::rocio.sanz@wto.org::e646624a-0748-4a86-be83-4873000cccd0" providerId="AD" clId="Web-{EE1D9A04-FAB3-9975-7B5A-FD5A2A6FAAAC}" dt="2025-04-25T10:24:54.609" v="35" actId="14100"/>
          <ac:spMkLst>
            <pc:docMk/>
            <pc:sldMk cId="0" sldId="256"/>
            <ac:spMk id="85" creationId="{00000000-0000-0000-0000-000000000000}"/>
          </ac:spMkLst>
        </pc:spChg>
        <pc:spChg chg="mod">
          <ac:chgData name="Sanz, Rocio" userId="S::rocio.sanz@wto.org::e646624a-0748-4a86-be83-4873000cccd0" providerId="AD" clId="Web-{EE1D9A04-FAB3-9975-7B5A-FD5A2A6FAAAC}" dt="2025-04-25T10:27:06.517" v="85" actId="20577"/>
          <ac:spMkLst>
            <pc:docMk/>
            <pc:sldMk cId="0" sldId="256"/>
            <ac:spMk id="86" creationId="{00000000-0000-0000-0000-000000000000}"/>
          </ac:spMkLst>
        </pc:spChg>
        <pc:spChg chg="mod">
          <ac:chgData name="Sanz, Rocio" userId="S::rocio.sanz@wto.org::e646624a-0748-4a86-be83-4873000cccd0" providerId="AD" clId="Web-{EE1D9A04-FAB3-9975-7B5A-FD5A2A6FAAAC}" dt="2025-04-25T10:27:58.846" v="94" actId="20577"/>
          <ac:spMkLst>
            <pc:docMk/>
            <pc:sldMk cId="0" sldId="256"/>
            <ac:spMk id="87" creationId="{00000000-0000-0000-0000-000000000000}"/>
          </ac:spMkLst>
        </pc:spChg>
        <pc:spChg chg="mod">
          <ac:chgData name="Sanz, Rocio" userId="S::rocio.sanz@wto.org::e646624a-0748-4a86-be83-4873000cccd0" providerId="AD" clId="Web-{EE1D9A04-FAB3-9975-7B5A-FD5A2A6FAAAC}" dt="2025-04-25T10:29:06.082" v="103" actId="20577"/>
          <ac:spMkLst>
            <pc:docMk/>
            <pc:sldMk cId="0" sldId="256"/>
            <ac:spMk id="8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hrSlideMaster.Title SlideHeader" descr="WTO - Internal">
            <a:extLst>
              <a:ext uri="{FF2B5EF4-FFF2-40B4-BE49-F238E27FC236}">
                <a16:creationId xmlns:a16="http://schemas.microsoft.com/office/drawing/2014/main" id="{E56F24BE-96D8-50B3-5EFE-96FC61CDDD26}"/>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hrSlideMaster.Title and ContentHeader" descr="WTO - Internal">
            <a:extLst>
              <a:ext uri="{FF2B5EF4-FFF2-40B4-BE49-F238E27FC236}">
                <a16:creationId xmlns:a16="http://schemas.microsoft.com/office/drawing/2014/main" id="{C94A04D3-5A46-E704-8A68-6E1881FCFFBB}"/>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hrSlideMaster.Section HeaderHeader" descr="WTO - Internal">
            <a:extLst>
              <a:ext uri="{FF2B5EF4-FFF2-40B4-BE49-F238E27FC236}">
                <a16:creationId xmlns:a16="http://schemas.microsoft.com/office/drawing/2014/main" id="{8FF0F3C2-C243-E03B-C5F7-05350B871A83}"/>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hrSlideMaster.Two ContentHeader" descr="WTO - Internal">
            <a:extLst>
              <a:ext uri="{FF2B5EF4-FFF2-40B4-BE49-F238E27FC236}">
                <a16:creationId xmlns:a16="http://schemas.microsoft.com/office/drawing/2014/main" id="{76CF67FC-7419-CDFB-CC71-D218EF40E78E}"/>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hrSlideMaster.ComparisonHeader" descr="WTO - Internal">
            <a:extLst>
              <a:ext uri="{FF2B5EF4-FFF2-40B4-BE49-F238E27FC236}">
                <a16:creationId xmlns:a16="http://schemas.microsoft.com/office/drawing/2014/main" id="{04ED962F-D599-AC1B-1015-80A2CA64D6B8}"/>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hrSlideMaster.Title OnlyHeader" descr="WTO - Internal">
            <a:extLst>
              <a:ext uri="{FF2B5EF4-FFF2-40B4-BE49-F238E27FC236}">
                <a16:creationId xmlns:a16="http://schemas.microsoft.com/office/drawing/2014/main" id="{E6A406AE-320B-520C-34AF-181A1E8CB6D5}"/>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hrSlideMaster.BlankHeader" descr="WTO - Internal">
            <a:extLst>
              <a:ext uri="{FF2B5EF4-FFF2-40B4-BE49-F238E27FC236}">
                <a16:creationId xmlns:a16="http://schemas.microsoft.com/office/drawing/2014/main" id="{976469E6-B9AD-D3B2-B6D3-0DADADCB76F9}"/>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hrSlideMaster.Content with CaptionHeader" descr="WTO - Internal">
            <a:extLst>
              <a:ext uri="{FF2B5EF4-FFF2-40B4-BE49-F238E27FC236}">
                <a16:creationId xmlns:a16="http://schemas.microsoft.com/office/drawing/2014/main" id="{217655C7-840C-2C8F-A25C-E5BABCF606CA}"/>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hrSlideMaster.Picture with CaptionHeader" descr="WTO - Internal">
            <a:extLst>
              <a:ext uri="{FF2B5EF4-FFF2-40B4-BE49-F238E27FC236}">
                <a16:creationId xmlns:a16="http://schemas.microsoft.com/office/drawing/2014/main" id="{86775FF7-2A98-C887-C74D-D51BC53BEC73}"/>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hrSlideMaster.Title and Vertical TextHeader" descr="WTO - Internal">
            <a:extLst>
              <a:ext uri="{FF2B5EF4-FFF2-40B4-BE49-F238E27FC236}">
                <a16:creationId xmlns:a16="http://schemas.microsoft.com/office/drawing/2014/main" id="{ABC95567-B7E3-4724-7122-A5CB4338A59B}"/>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hrSlideMaster.Vertical Title and TextHeader" descr="WTO - Internal">
            <a:extLst>
              <a:ext uri="{FF2B5EF4-FFF2-40B4-BE49-F238E27FC236}">
                <a16:creationId xmlns:a16="http://schemas.microsoft.com/office/drawing/2014/main" id="{86EBEA5F-AE71-51B1-06F6-1D45209C2934}"/>
              </a:ext>
            </a:extLst>
          </p:cNvPr>
          <p:cNvSpPr txBox="1"/>
          <p:nvPr userDrawn="1"/>
        </p:nvSpPr>
        <p:spPr>
          <a:xfrm>
            <a:off x="0" y="0"/>
            <a:ext cx="18288000" cy="223138"/>
          </a:xfrm>
          <a:prstGeom prst="rect">
            <a:avLst/>
          </a:prstGeom>
          <a:noFill/>
        </p:spPr>
        <p:txBody>
          <a:bodyPr vert="horz" rtlCol="0">
            <a:spAutoFit/>
          </a:bodyPr>
          <a:lstStyle/>
          <a:p>
            <a:pPr algn="r"/>
            <a:r>
              <a:rPr lang="en-GB" sz="850" b="0" i="0" u="none" strike="noStrike" baseline="0">
                <a:solidFill>
                  <a:srgbClr val="235C24"/>
                </a:solidFill>
                <a:latin typeface="Microsoft Sans Serif" panose="020B0604020202020204" pitchFamily="34" charset="0"/>
                <a:cs typeface="Microsoft Sans Serif" panose="020B0604020202020204" pitchFamily="34" charset="0"/>
              </a:rPr>
              <a:t>WTO - Internal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to.sharepoint.com/sites/KnowledgeManagementExchangePlatform/"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456217" y="117173"/>
            <a:ext cx="3731365" cy="1110081"/>
          </a:xfrm>
          <a:custGeom>
            <a:avLst/>
            <a:gdLst/>
            <a:ahLst/>
            <a:cxnLst/>
            <a:rect l="l" t="t" r="r" b="b"/>
            <a:pathLst>
              <a:path w="3731365" h="1110081">
                <a:moveTo>
                  <a:pt x="0" y="0"/>
                </a:moveTo>
                <a:lnTo>
                  <a:pt x="3731366" y="0"/>
                </a:lnTo>
                <a:lnTo>
                  <a:pt x="3731366" y="1110082"/>
                </a:lnTo>
                <a:lnTo>
                  <a:pt x="0" y="1110082"/>
                </a:lnTo>
                <a:lnTo>
                  <a:pt x="0" y="0"/>
                </a:lnTo>
                <a:close/>
              </a:path>
            </a:pathLst>
          </a:custGeom>
          <a:blipFill>
            <a:blip r:embed="rId2"/>
            <a:stretch>
              <a:fillRect/>
            </a:stretch>
          </a:blipFill>
        </p:spPr>
        <p:txBody>
          <a:bodyPr/>
          <a:lstStyle/>
          <a:p>
            <a:endParaRPr lang="en-CH"/>
          </a:p>
        </p:txBody>
      </p:sp>
      <p:sp>
        <p:nvSpPr>
          <p:cNvPr id="3" name="AutoShape 3"/>
          <p:cNvSpPr/>
          <p:nvPr/>
        </p:nvSpPr>
        <p:spPr>
          <a:xfrm>
            <a:off x="513404" y="1392365"/>
            <a:ext cx="17674179" cy="0"/>
          </a:xfrm>
          <a:prstGeom prst="line">
            <a:avLst/>
          </a:prstGeom>
          <a:ln w="38100" cap="flat">
            <a:solidFill>
              <a:srgbClr val="2E3192"/>
            </a:solidFill>
            <a:prstDash val="solid"/>
            <a:headEnd type="none" w="sm" len="sm"/>
            <a:tailEnd type="none" w="sm" len="sm"/>
          </a:ln>
        </p:spPr>
        <p:txBody>
          <a:bodyPr/>
          <a:lstStyle/>
          <a:p>
            <a:endParaRPr lang="en-CH"/>
          </a:p>
        </p:txBody>
      </p:sp>
      <p:grpSp>
        <p:nvGrpSpPr>
          <p:cNvPr id="4" name="Group 4"/>
          <p:cNvGrpSpPr/>
          <p:nvPr/>
        </p:nvGrpSpPr>
        <p:grpSpPr>
          <a:xfrm rot="-5400000">
            <a:off x="-351646" y="2460046"/>
            <a:ext cx="2634100" cy="903999"/>
            <a:chOff x="0" y="0"/>
            <a:chExt cx="693755" cy="238090"/>
          </a:xfrm>
        </p:grpSpPr>
        <p:sp>
          <p:nvSpPr>
            <p:cNvPr id="5" name="Freeform 5"/>
            <p:cNvSpPr/>
            <p:nvPr/>
          </p:nvSpPr>
          <p:spPr>
            <a:xfrm>
              <a:off x="0" y="0"/>
              <a:ext cx="693755" cy="238090"/>
            </a:xfrm>
            <a:custGeom>
              <a:avLst/>
              <a:gdLst/>
              <a:ahLst/>
              <a:cxnLst/>
              <a:rect l="l" t="t" r="r" b="b"/>
              <a:pathLst>
                <a:path w="693755" h="238090">
                  <a:moveTo>
                    <a:pt x="0" y="0"/>
                  </a:moveTo>
                  <a:lnTo>
                    <a:pt x="693755" y="0"/>
                  </a:lnTo>
                  <a:lnTo>
                    <a:pt x="693755" y="238090"/>
                  </a:lnTo>
                  <a:lnTo>
                    <a:pt x="0" y="238090"/>
                  </a:lnTo>
                  <a:close/>
                </a:path>
              </a:pathLst>
            </a:custGeom>
            <a:solidFill>
              <a:srgbClr val="2E3192">
                <a:alpha val="40000"/>
              </a:srgbClr>
            </a:solidFill>
          </p:spPr>
          <p:txBody>
            <a:bodyPr/>
            <a:lstStyle/>
            <a:p>
              <a:endParaRPr lang="en-CH"/>
            </a:p>
          </p:txBody>
        </p:sp>
        <p:sp>
          <p:nvSpPr>
            <p:cNvPr id="6" name="TextBox 6"/>
            <p:cNvSpPr txBox="1"/>
            <p:nvPr/>
          </p:nvSpPr>
          <p:spPr>
            <a:xfrm>
              <a:off x="0" y="-38100"/>
              <a:ext cx="693755" cy="27619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5400000">
            <a:off x="-351646" y="5275122"/>
            <a:ext cx="2634100" cy="903999"/>
            <a:chOff x="0" y="0"/>
            <a:chExt cx="693755" cy="238090"/>
          </a:xfrm>
        </p:grpSpPr>
        <p:sp>
          <p:nvSpPr>
            <p:cNvPr id="8" name="Freeform 8"/>
            <p:cNvSpPr/>
            <p:nvPr/>
          </p:nvSpPr>
          <p:spPr>
            <a:xfrm>
              <a:off x="0" y="0"/>
              <a:ext cx="693755" cy="238090"/>
            </a:xfrm>
            <a:custGeom>
              <a:avLst/>
              <a:gdLst/>
              <a:ahLst/>
              <a:cxnLst/>
              <a:rect l="l" t="t" r="r" b="b"/>
              <a:pathLst>
                <a:path w="693755" h="238090">
                  <a:moveTo>
                    <a:pt x="0" y="0"/>
                  </a:moveTo>
                  <a:lnTo>
                    <a:pt x="693755" y="0"/>
                  </a:lnTo>
                  <a:lnTo>
                    <a:pt x="693755" y="238090"/>
                  </a:lnTo>
                  <a:lnTo>
                    <a:pt x="0" y="238090"/>
                  </a:lnTo>
                  <a:close/>
                </a:path>
              </a:pathLst>
            </a:custGeom>
            <a:solidFill>
              <a:srgbClr val="ED1C24">
                <a:alpha val="40000"/>
              </a:srgbClr>
            </a:solidFill>
          </p:spPr>
          <p:txBody>
            <a:bodyPr/>
            <a:lstStyle/>
            <a:p>
              <a:endParaRPr lang="en-CH"/>
            </a:p>
          </p:txBody>
        </p:sp>
        <p:sp>
          <p:nvSpPr>
            <p:cNvPr id="9" name="TextBox 9"/>
            <p:cNvSpPr txBox="1"/>
            <p:nvPr/>
          </p:nvSpPr>
          <p:spPr>
            <a:xfrm>
              <a:off x="0" y="-38100"/>
              <a:ext cx="693755" cy="27619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rot="-5400000">
            <a:off x="-351646" y="8090197"/>
            <a:ext cx="2634100" cy="903999"/>
            <a:chOff x="0" y="0"/>
            <a:chExt cx="693755" cy="238090"/>
          </a:xfrm>
        </p:grpSpPr>
        <p:sp>
          <p:nvSpPr>
            <p:cNvPr id="11" name="Freeform 11"/>
            <p:cNvSpPr/>
            <p:nvPr/>
          </p:nvSpPr>
          <p:spPr>
            <a:xfrm>
              <a:off x="0" y="0"/>
              <a:ext cx="693755" cy="238090"/>
            </a:xfrm>
            <a:custGeom>
              <a:avLst/>
              <a:gdLst/>
              <a:ahLst/>
              <a:cxnLst/>
              <a:rect l="l" t="t" r="r" b="b"/>
              <a:pathLst>
                <a:path w="693755" h="238090">
                  <a:moveTo>
                    <a:pt x="0" y="0"/>
                  </a:moveTo>
                  <a:lnTo>
                    <a:pt x="693755" y="0"/>
                  </a:lnTo>
                  <a:lnTo>
                    <a:pt x="693755" y="238090"/>
                  </a:lnTo>
                  <a:lnTo>
                    <a:pt x="0" y="238090"/>
                  </a:lnTo>
                  <a:close/>
                </a:path>
              </a:pathLst>
            </a:custGeom>
            <a:solidFill>
              <a:srgbClr val="00904C">
                <a:alpha val="40000"/>
              </a:srgbClr>
            </a:solidFill>
          </p:spPr>
          <p:txBody>
            <a:bodyPr/>
            <a:lstStyle/>
            <a:p>
              <a:endParaRPr lang="en-CH"/>
            </a:p>
          </p:txBody>
        </p:sp>
        <p:sp>
          <p:nvSpPr>
            <p:cNvPr id="12" name="TextBox 12"/>
            <p:cNvSpPr txBox="1"/>
            <p:nvPr/>
          </p:nvSpPr>
          <p:spPr>
            <a:xfrm>
              <a:off x="0" y="-38100"/>
              <a:ext cx="693755" cy="27619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593193" y="1594996"/>
            <a:ext cx="11346916" cy="592271"/>
            <a:chOff x="0" y="0"/>
            <a:chExt cx="2988488" cy="155989"/>
          </a:xfrm>
        </p:grpSpPr>
        <p:sp>
          <p:nvSpPr>
            <p:cNvPr id="14" name="Freeform 14"/>
            <p:cNvSpPr/>
            <p:nvPr/>
          </p:nvSpPr>
          <p:spPr>
            <a:xfrm>
              <a:off x="0" y="0"/>
              <a:ext cx="2988488" cy="155989"/>
            </a:xfrm>
            <a:custGeom>
              <a:avLst/>
              <a:gdLst/>
              <a:ahLst/>
              <a:cxnLst/>
              <a:rect l="l" t="t" r="r" b="b"/>
              <a:pathLst>
                <a:path w="2988488" h="155989">
                  <a:moveTo>
                    <a:pt x="0" y="0"/>
                  </a:moveTo>
                  <a:lnTo>
                    <a:pt x="2988488" y="0"/>
                  </a:lnTo>
                  <a:lnTo>
                    <a:pt x="2988488" y="155989"/>
                  </a:lnTo>
                  <a:lnTo>
                    <a:pt x="0" y="155989"/>
                  </a:lnTo>
                  <a:close/>
                </a:path>
              </a:pathLst>
            </a:custGeom>
            <a:solidFill>
              <a:srgbClr val="2E3192">
                <a:alpha val="40000"/>
              </a:srgbClr>
            </a:solidFill>
          </p:spPr>
          <p:txBody>
            <a:bodyPr/>
            <a:lstStyle/>
            <a:p>
              <a:endParaRPr lang="en-CH"/>
            </a:p>
          </p:txBody>
        </p:sp>
        <p:sp>
          <p:nvSpPr>
            <p:cNvPr id="15" name="TextBox 15"/>
            <p:cNvSpPr txBox="1"/>
            <p:nvPr/>
          </p:nvSpPr>
          <p:spPr>
            <a:xfrm>
              <a:off x="0" y="-38100"/>
              <a:ext cx="2988488" cy="194089"/>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593193" y="2319775"/>
            <a:ext cx="11346916" cy="1909321"/>
            <a:chOff x="0" y="0"/>
            <a:chExt cx="2988488" cy="502866"/>
          </a:xfrm>
        </p:grpSpPr>
        <p:sp>
          <p:nvSpPr>
            <p:cNvPr id="17" name="Freeform 17"/>
            <p:cNvSpPr/>
            <p:nvPr/>
          </p:nvSpPr>
          <p:spPr>
            <a:xfrm>
              <a:off x="0" y="0"/>
              <a:ext cx="2988488" cy="502866"/>
            </a:xfrm>
            <a:custGeom>
              <a:avLst/>
              <a:gdLst/>
              <a:ahLst/>
              <a:cxnLst/>
              <a:rect l="l" t="t" r="r" b="b"/>
              <a:pathLst>
                <a:path w="2988488" h="502866">
                  <a:moveTo>
                    <a:pt x="0" y="0"/>
                  </a:moveTo>
                  <a:lnTo>
                    <a:pt x="2988488" y="0"/>
                  </a:lnTo>
                  <a:lnTo>
                    <a:pt x="2988488"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18" name="TextBox 18"/>
            <p:cNvSpPr txBox="1"/>
            <p:nvPr/>
          </p:nvSpPr>
          <p:spPr>
            <a:xfrm>
              <a:off x="0" y="-38100"/>
              <a:ext cx="2988488"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3111560" y="1611440"/>
            <a:ext cx="4859503" cy="592271"/>
            <a:chOff x="0" y="0"/>
            <a:chExt cx="1279869" cy="155989"/>
          </a:xfrm>
        </p:grpSpPr>
        <p:sp>
          <p:nvSpPr>
            <p:cNvPr id="20" name="Freeform 20"/>
            <p:cNvSpPr/>
            <p:nvPr/>
          </p:nvSpPr>
          <p:spPr>
            <a:xfrm>
              <a:off x="0" y="0"/>
              <a:ext cx="1279869" cy="155989"/>
            </a:xfrm>
            <a:custGeom>
              <a:avLst/>
              <a:gdLst/>
              <a:ahLst/>
              <a:cxnLst/>
              <a:rect l="l" t="t" r="r" b="b"/>
              <a:pathLst>
                <a:path w="1279869" h="155989">
                  <a:moveTo>
                    <a:pt x="0" y="0"/>
                  </a:moveTo>
                  <a:lnTo>
                    <a:pt x="1279869" y="0"/>
                  </a:lnTo>
                  <a:lnTo>
                    <a:pt x="1279869" y="155989"/>
                  </a:lnTo>
                  <a:lnTo>
                    <a:pt x="0" y="155989"/>
                  </a:lnTo>
                  <a:close/>
                </a:path>
              </a:pathLst>
            </a:custGeom>
            <a:solidFill>
              <a:srgbClr val="2E3192">
                <a:alpha val="40000"/>
              </a:srgbClr>
            </a:solidFill>
          </p:spPr>
          <p:txBody>
            <a:bodyPr/>
            <a:lstStyle/>
            <a:p>
              <a:endParaRPr lang="en-CH"/>
            </a:p>
          </p:txBody>
        </p:sp>
        <p:sp>
          <p:nvSpPr>
            <p:cNvPr id="21" name="TextBox 21"/>
            <p:cNvSpPr txBox="1"/>
            <p:nvPr/>
          </p:nvSpPr>
          <p:spPr>
            <a:xfrm>
              <a:off x="0" y="-38100"/>
              <a:ext cx="1279869" cy="194089"/>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13111560" y="2319775"/>
            <a:ext cx="4859503" cy="1909321"/>
            <a:chOff x="0" y="0"/>
            <a:chExt cx="1279869" cy="502866"/>
          </a:xfrm>
        </p:grpSpPr>
        <p:sp>
          <p:nvSpPr>
            <p:cNvPr id="23" name="Freeform 23"/>
            <p:cNvSpPr/>
            <p:nvPr/>
          </p:nvSpPr>
          <p:spPr>
            <a:xfrm>
              <a:off x="0" y="0"/>
              <a:ext cx="1279869" cy="502866"/>
            </a:xfrm>
            <a:custGeom>
              <a:avLst/>
              <a:gdLst/>
              <a:ahLst/>
              <a:cxnLst/>
              <a:rect l="l" t="t" r="r" b="b"/>
              <a:pathLst>
                <a:path w="1279869" h="502866">
                  <a:moveTo>
                    <a:pt x="0" y="0"/>
                  </a:moveTo>
                  <a:lnTo>
                    <a:pt x="1279869" y="0"/>
                  </a:lnTo>
                  <a:lnTo>
                    <a:pt x="1279869"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24" name="TextBox 24"/>
            <p:cNvSpPr txBox="1"/>
            <p:nvPr/>
          </p:nvSpPr>
          <p:spPr>
            <a:xfrm>
              <a:off x="0" y="-38100"/>
              <a:ext cx="1279869"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593193" y="4410071"/>
            <a:ext cx="5564350" cy="575826"/>
            <a:chOff x="0" y="0"/>
            <a:chExt cx="1465508" cy="151658"/>
          </a:xfrm>
        </p:grpSpPr>
        <p:sp>
          <p:nvSpPr>
            <p:cNvPr id="26" name="Freeform 26"/>
            <p:cNvSpPr/>
            <p:nvPr/>
          </p:nvSpPr>
          <p:spPr>
            <a:xfrm>
              <a:off x="0" y="0"/>
              <a:ext cx="1465508" cy="151658"/>
            </a:xfrm>
            <a:custGeom>
              <a:avLst/>
              <a:gdLst/>
              <a:ahLst/>
              <a:cxnLst/>
              <a:rect l="l" t="t" r="r" b="b"/>
              <a:pathLst>
                <a:path w="1465508" h="151658">
                  <a:moveTo>
                    <a:pt x="0" y="0"/>
                  </a:moveTo>
                  <a:lnTo>
                    <a:pt x="1465508" y="0"/>
                  </a:lnTo>
                  <a:lnTo>
                    <a:pt x="1465508" y="151658"/>
                  </a:lnTo>
                  <a:lnTo>
                    <a:pt x="0" y="151658"/>
                  </a:lnTo>
                  <a:close/>
                </a:path>
              </a:pathLst>
            </a:custGeom>
            <a:solidFill>
              <a:srgbClr val="ED1C24">
                <a:alpha val="40000"/>
              </a:srgbClr>
            </a:solidFill>
          </p:spPr>
          <p:txBody>
            <a:bodyPr/>
            <a:lstStyle/>
            <a:p>
              <a:endParaRPr lang="en-CH"/>
            </a:p>
          </p:txBody>
        </p:sp>
        <p:sp>
          <p:nvSpPr>
            <p:cNvPr id="27" name="TextBox 27"/>
            <p:cNvSpPr txBox="1"/>
            <p:nvPr/>
          </p:nvSpPr>
          <p:spPr>
            <a:xfrm>
              <a:off x="0" y="-38100"/>
              <a:ext cx="1465508"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7469275" y="4410071"/>
            <a:ext cx="5159102" cy="575826"/>
            <a:chOff x="0" y="0"/>
            <a:chExt cx="1358776" cy="151658"/>
          </a:xfrm>
        </p:grpSpPr>
        <p:sp>
          <p:nvSpPr>
            <p:cNvPr id="29" name="Freeform 29"/>
            <p:cNvSpPr/>
            <p:nvPr/>
          </p:nvSpPr>
          <p:spPr>
            <a:xfrm>
              <a:off x="0" y="0"/>
              <a:ext cx="1358776" cy="151658"/>
            </a:xfrm>
            <a:custGeom>
              <a:avLst/>
              <a:gdLst/>
              <a:ahLst/>
              <a:cxnLst/>
              <a:rect l="l" t="t" r="r" b="b"/>
              <a:pathLst>
                <a:path w="1358776" h="151658">
                  <a:moveTo>
                    <a:pt x="0" y="0"/>
                  </a:moveTo>
                  <a:lnTo>
                    <a:pt x="1358776" y="0"/>
                  </a:lnTo>
                  <a:lnTo>
                    <a:pt x="1358776" y="151658"/>
                  </a:lnTo>
                  <a:lnTo>
                    <a:pt x="0" y="151658"/>
                  </a:lnTo>
                  <a:close/>
                </a:path>
              </a:pathLst>
            </a:custGeom>
            <a:solidFill>
              <a:srgbClr val="ED1C24">
                <a:alpha val="40000"/>
              </a:srgbClr>
            </a:solidFill>
          </p:spPr>
          <p:txBody>
            <a:bodyPr/>
            <a:lstStyle/>
            <a:p>
              <a:endParaRPr lang="en-CH"/>
            </a:p>
          </p:txBody>
        </p:sp>
        <p:sp>
          <p:nvSpPr>
            <p:cNvPr id="30" name="TextBox 30"/>
            <p:cNvSpPr txBox="1"/>
            <p:nvPr/>
          </p:nvSpPr>
          <p:spPr>
            <a:xfrm>
              <a:off x="0" y="-38100"/>
              <a:ext cx="1358776"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31"/>
          <p:cNvGrpSpPr/>
          <p:nvPr/>
        </p:nvGrpSpPr>
        <p:grpSpPr>
          <a:xfrm>
            <a:off x="12940110" y="4410071"/>
            <a:ext cx="5030953" cy="575826"/>
            <a:chOff x="0" y="0"/>
            <a:chExt cx="1325025" cy="151658"/>
          </a:xfrm>
        </p:grpSpPr>
        <p:sp>
          <p:nvSpPr>
            <p:cNvPr id="32" name="Freeform 32"/>
            <p:cNvSpPr/>
            <p:nvPr/>
          </p:nvSpPr>
          <p:spPr>
            <a:xfrm>
              <a:off x="0" y="0"/>
              <a:ext cx="1325025" cy="151658"/>
            </a:xfrm>
            <a:custGeom>
              <a:avLst/>
              <a:gdLst/>
              <a:ahLst/>
              <a:cxnLst/>
              <a:rect l="l" t="t" r="r" b="b"/>
              <a:pathLst>
                <a:path w="1325025" h="151658">
                  <a:moveTo>
                    <a:pt x="0" y="0"/>
                  </a:moveTo>
                  <a:lnTo>
                    <a:pt x="1325025" y="0"/>
                  </a:lnTo>
                  <a:lnTo>
                    <a:pt x="1325025" y="151658"/>
                  </a:lnTo>
                  <a:lnTo>
                    <a:pt x="0" y="151658"/>
                  </a:lnTo>
                  <a:close/>
                </a:path>
              </a:pathLst>
            </a:custGeom>
            <a:solidFill>
              <a:srgbClr val="ED1C24">
                <a:alpha val="40000"/>
              </a:srgbClr>
            </a:solidFill>
          </p:spPr>
          <p:txBody>
            <a:bodyPr/>
            <a:lstStyle/>
            <a:p>
              <a:endParaRPr lang="en-CH"/>
            </a:p>
          </p:txBody>
        </p:sp>
        <p:sp>
          <p:nvSpPr>
            <p:cNvPr id="33" name="TextBox 33"/>
            <p:cNvSpPr txBox="1"/>
            <p:nvPr/>
          </p:nvSpPr>
          <p:spPr>
            <a:xfrm>
              <a:off x="0" y="-38100"/>
              <a:ext cx="1325025"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34" name="Group 34"/>
          <p:cNvGrpSpPr/>
          <p:nvPr/>
        </p:nvGrpSpPr>
        <p:grpSpPr>
          <a:xfrm>
            <a:off x="1593193" y="5138297"/>
            <a:ext cx="5564350" cy="1909321"/>
            <a:chOff x="0" y="0"/>
            <a:chExt cx="1465508" cy="502866"/>
          </a:xfrm>
        </p:grpSpPr>
        <p:sp>
          <p:nvSpPr>
            <p:cNvPr id="35" name="Freeform 35"/>
            <p:cNvSpPr/>
            <p:nvPr/>
          </p:nvSpPr>
          <p:spPr>
            <a:xfrm>
              <a:off x="0" y="0"/>
              <a:ext cx="1465508" cy="502866"/>
            </a:xfrm>
            <a:custGeom>
              <a:avLst/>
              <a:gdLst/>
              <a:ahLst/>
              <a:cxnLst/>
              <a:rect l="l" t="t" r="r" b="b"/>
              <a:pathLst>
                <a:path w="1465508" h="502866">
                  <a:moveTo>
                    <a:pt x="0" y="0"/>
                  </a:moveTo>
                  <a:lnTo>
                    <a:pt x="1465508" y="0"/>
                  </a:lnTo>
                  <a:lnTo>
                    <a:pt x="1465508"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36" name="TextBox 36"/>
            <p:cNvSpPr txBox="1"/>
            <p:nvPr/>
          </p:nvSpPr>
          <p:spPr>
            <a:xfrm>
              <a:off x="0" y="-38100"/>
              <a:ext cx="1465508"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a:off x="7469275" y="5166872"/>
            <a:ext cx="5159102" cy="1909321"/>
            <a:chOff x="0" y="0"/>
            <a:chExt cx="1358776" cy="502866"/>
          </a:xfrm>
        </p:grpSpPr>
        <p:sp>
          <p:nvSpPr>
            <p:cNvPr id="38" name="Freeform 38"/>
            <p:cNvSpPr/>
            <p:nvPr/>
          </p:nvSpPr>
          <p:spPr>
            <a:xfrm>
              <a:off x="0" y="0"/>
              <a:ext cx="1358776" cy="502866"/>
            </a:xfrm>
            <a:custGeom>
              <a:avLst/>
              <a:gdLst/>
              <a:ahLst/>
              <a:cxnLst/>
              <a:rect l="l" t="t" r="r" b="b"/>
              <a:pathLst>
                <a:path w="1358776" h="502866">
                  <a:moveTo>
                    <a:pt x="0" y="0"/>
                  </a:moveTo>
                  <a:lnTo>
                    <a:pt x="1358776" y="0"/>
                  </a:lnTo>
                  <a:lnTo>
                    <a:pt x="1358776"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39" name="TextBox 39"/>
            <p:cNvSpPr txBox="1"/>
            <p:nvPr/>
          </p:nvSpPr>
          <p:spPr>
            <a:xfrm>
              <a:off x="0" y="-38100"/>
              <a:ext cx="1358776"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40" name="Group 40"/>
          <p:cNvGrpSpPr/>
          <p:nvPr/>
        </p:nvGrpSpPr>
        <p:grpSpPr>
          <a:xfrm>
            <a:off x="12940110" y="5185922"/>
            <a:ext cx="5030953" cy="1909321"/>
            <a:chOff x="0" y="0"/>
            <a:chExt cx="1325025" cy="502866"/>
          </a:xfrm>
        </p:grpSpPr>
        <p:sp>
          <p:nvSpPr>
            <p:cNvPr id="41" name="Freeform 41"/>
            <p:cNvSpPr/>
            <p:nvPr/>
          </p:nvSpPr>
          <p:spPr>
            <a:xfrm>
              <a:off x="0" y="0"/>
              <a:ext cx="1325025" cy="502866"/>
            </a:xfrm>
            <a:custGeom>
              <a:avLst/>
              <a:gdLst/>
              <a:ahLst/>
              <a:cxnLst/>
              <a:rect l="l" t="t" r="r" b="b"/>
              <a:pathLst>
                <a:path w="1325025" h="502866">
                  <a:moveTo>
                    <a:pt x="0" y="0"/>
                  </a:moveTo>
                  <a:lnTo>
                    <a:pt x="1325025" y="0"/>
                  </a:lnTo>
                  <a:lnTo>
                    <a:pt x="1325025"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42" name="TextBox 42"/>
            <p:cNvSpPr txBox="1"/>
            <p:nvPr/>
          </p:nvSpPr>
          <p:spPr>
            <a:xfrm>
              <a:off x="0" y="-38100"/>
              <a:ext cx="1325025"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43" name="Group 43"/>
          <p:cNvGrpSpPr/>
          <p:nvPr/>
        </p:nvGrpSpPr>
        <p:grpSpPr>
          <a:xfrm>
            <a:off x="1593193" y="7225146"/>
            <a:ext cx="3494804" cy="575826"/>
            <a:chOff x="0" y="0"/>
            <a:chExt cx="890798" cy="151658"/>
          </a:xfrm>
        </p:grpSpPr>
        <p:sp>
          <p:nvSpPr>
            <p:cNvPr id="44" name="Freeform 44"/>
            <p:cNvSpPr/>
            <p:nvPr/>
          </p:nvSpPr>
          <p:spPr>
            <a:xfrm>
              <a:off x="0" y="0"/>
              <a:ext cx="890798" cy="151658"/>
            </a:xfrm>
            <a:custGeom>
              <a:avLst/>
              <a:gdLst/>
              <a:ahLst/>
              <a:cxnLst/>
              <a:rect l="l" t="t" r="r" b="b"/>
              <a:pathLst>
                <a:path w="890798" h="151658">
                  <a:moveTo>
                    <a:pt x="0" y="0"/>
                  </a:moveTo>
                  <a:lnTo>
                    <a:pt x="890798" y="0"/>
                  </a:lnTo>
                  <a:lnTo>
                    <a:pt x="890798" y="151658"/>
                  </a:lnTo>
                  <a:lnTo>
                    <a:pt x="0" y="151658"/>
                  </a:lnTo>
                  <a:close/>
                </a:path>
              </a:pathLst>
            </a:custGeom>
            <a:solidFill>
              <a:srgbClr val="00904C">
                <a:alpha val="40000"/>
              </a:srgbClr>
            </a:solidFill>
          </p:spPr>
          <p:txBody>
            <a:bodyPr/>
            <a:lstStyle/>
            <a:p>
              <a:endParaRPr lang="en-CH"/>
            </a:p>
          </p:txBody>
        </p:sp>
        <p:sp>
          <p:nvSpPr>
            <p:cNvPr id="45" name="TextBox 45"/>
            <p:cNvSpPr txBox="1"/>
            <p:nvPr/>
          </p:nvSpPr>
          <p:spPr>
            <a:xfrm>
              <a:off x="0" y="-38100"/>
              <a:ext cx="890798"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46" name="Group 46"/>
          <p:cNvGrpSpPr/>
          <p:nvPr/>
        </p:nvGrpSpPr>
        <p:grpSpPr>
          <a:xfrm>
            <a:off x="5232618" y="7225146"/>
            <a:ext cx="4673334" cy="575826"/>
            <a:chOff x="0" y="0"/>
            <a:chExt cx="1230837" cy="151658"/>
          </a:xfrm>
        </p:grpSpPr>
        <p:sp>
          <p:nvSpPr>
            <p:cNvPr id="47" name="Freeform 47"/>
            <p:cNvSpPr/>
            <p:nvPr/>
          </p:nvSpPr>
          <p:spPr>
            <a:xfrm>
              <a:off x="0" y="0"/>
              <a:ext cx="1230837" cy="151658"/>
            </a:xfrm>
            <a:custGeom>
              <a:avLst/>
              <a:gdLst/>
              <a:ahLst/>
              <a:cxnLst/>
              <a:rect l="l" t="t" r="r" b="b"/>
              <a:pathLst>
                <a:path w="1230837" h="151658">
                  <a:moveTo>
                    <a:pt x="0" y="0"/>
                  </a:moveTo>
                  <a:lnTo>
                    <a:pt x="1230837" y="0"/>
                  </a:lnTo>
                  <a:lnTo>
                    <a:pt x="1230837" y="151658"/>
                  </a:lnTo>
                  <a:lnTo>
                    <a:pt x="0" y="151658"/>
                  </a:lnTo>
                  <a:close/>
                </a:path>
              </a:pathLst>
            </a:custGeom>
            <a:solidFill>
              <a:srgbClr val="00904C">
                <a:alpha val="40000"/>
              </a:srgbClr>
            </a:solidFill>
          </p:spPr>
          <p:txBody>
            <a:bodyPr/>
            <a:lstStyle/>
            <a:p>
              <a:endParaRPr lang="en-CH"/>
            </a:p>
          </p:txBody>
        </p:sp>
        <p:sp>
          <p:nvSpPr>
            <p:cNvPr id="48" name="TextBox 48"/>
            <p:cNvSpPr txBox="1"/>
            <p:nvPr/>
          </p:nvSpPr>
          <p:spPr>
            <a:xfrm>
              <a:off x="0" y="-38100"/>
              <a:ext cx="1230837"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49" name="Group 49"/>
          <p:cNvGrpSpPr/>
          <p:nvPr/>
        </p:nvGrpSpPr>
        <p:grpSpPr>
          <a:xfrm>
            <a:off x="10048826" y="7225146"/>
            <a:ext cx="3912188" cy="575826"/>
            <a:chOff x="0" y="0"/>
            <a:chExt cx="1030370" cy="151658"/>
          </a:xfrm>
        </p:grpSpPr>
        <p:sp>
          <p:nvSpPr>
            <p:cNvPr id="50" name="Freeform 50"/>
            <p:cNvSpPr/>
            <p:nvPr/>
          </p:nvSpPr>
          <p:spPr>
            <a:xfrm>
              <a:off x="0" y="0"/>
              <a:ext cx="1030370" cy="151658"/>
            </a:xfrm>
            <a:custGeom>
              <a:avLst/>
              <a:gdLst/>
              <a:ahLst/>
              <a:cxnLst/>
              <a:rect l="l" t="t" r="r" b="b"/>
              <a:pathLst>
                <a:path w="1030370" h="151658">
                  <a:moveTo>
                    <a:pt x="0" y="0"/>
                  </a:moveTo>
                  <a:lnTo>
                    <a:pt x="1030370" y="0"/>
                  </a:lnTo>
                  <a:lnTo>
                    <a:pt x="1030370" y="151658"/>
                  </a:lnTo>
                  <a:lnTo>
                    <a:pt x="0" y="151658"/>
                  </a:lnTo>
                  <a:close/>
                </a:path>
              </a:pathLst>
            </a:custGeom>
            <a:solidFill>
              <a:srgbClr val="00904C">
                <a:alpha val="40000"/>
              </a:srgbClr>
            </a:solidFill>
          </p:spPr>
          <p:txBody>
            <a:bodyPr/>
            <a:lstStyle/>
            <a:p>
              <a:endParaRPr lang="en-CH"/>
            </a:p>
          </p:txBody>
        </p:sp>
        <p:sp>
          <p:nvSpPr>
            <p:cNvPr id="51" name="TextBox 51"/>
            <p:cNvSpPr txBox="1"/>
            <p:nvPr/>
          </p:nvSpPr>
          <p:spPr>
            <a:xfrm>
              <a:off x="0" y="-38100"/>
              <a:ext cx="1030370"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52" name="Group 52"/>
          <p:cNvGrpSpPr/>
          <p:nvPr/>
        </p:nvGrpSpPr>
        <p:grpSpPr>
          <a:xfrm>
            <a:off x="14132463" y="7225146"/>
            <a:ext cx="3838600" cy="575826"/>
            <a:chOff x="0" y="0"/>
            <a:chExt cx="1018055" cy="151658"/>
          </a:xfrm>
        </p:grpSpPr>
        <p:sp>
          <p:nvSpPr>
            <p:cNvPr id="53" name="Freeform 53"/>
            <p:cNvSpPr/>
            <p:nvPr/>
          </p:nvSpPr>
          <p:spPr>
            <a:xfrm>
              <a:off x="0" y="0"/>
              <a:ext cx="1018055" cy="151658"/>
            </a:xfrm>
            <a:custGeom>
              <a:avLst/>
              <a:gdLst/>
              <a:ahLst/>
              <a:cxnLst/>
              <a:rect l="l" t="t" r="r" b="b"/>
              <a:pathLst>
                <a:path w="1018055" h="151658">
                  <a:moveTo>
                    <a:pt x="0" y="0"/>
                  </a:moveTo>
                  <a:lnTo>
                    <a:pt x="1018055" y="0"/>
                  </a:lnTo>
                  <a:lnTo>
                    <a:pt x="1018055" y="151658"/>
                  </a:lnTo>
                  <a:lnTo>
                    <a:pt x="0" y="151658"/>
                  </a:lnTo>
                  <a:close/>
                </a:path>
              </a:pathLst>
            </a:custGeom>
            <a:solidFill>
              <a:srgbClr val="00904C">
                <a:alpha val="40000"/>
              </a:srgbClr>
            </a:solidFill>
          </p:spPr>
          <p:txBody>
            <a:bodyPr/>
            <a:lstStyle/>
            <a:p>
              <a:endParaRPr lang="en-CH"/>
            </a:p>
          </p:txBody>
        </p:sp>
        <p:sp>
          <p:nvSpPr>
            <p:cNvPr id="54" name="TextBox 54"/>
            <p:cNvSpPr txBox="1"/>
            <p:nvPr/>
          </p:nvSpPr>
          <p:spPr>
            <a:xfrm>
              <a:off x="0" y="-38100"/>
              <a:ext cx="1018055" cy="189758"/>
            </a:xfrm>
            <a:prstGeom prst="rect">
              <a:avLst/>
            </a:prstGeom>
          </p:spPr>
          <p:txBody>
            <a:bodyPr lIns="50800" tIns="50800" rIns="50800" bIns="50800" rtlCol="0" anchor="ctr"/>
            <a:lstStyle/>
            <a:p>
              <a:pPr algn="ctr">
                <a:lnSpc>
                  <a:spcPts val="2659"/>
                </a:lnSpc>
                <a:spcBef>
                  <a:spcPct val="0"/>
                </a:spcBef>
              </a:pPr>
              <a:endParaRPr/>
            </a:p>
          </p:txBody>
        </p:sp>
      </p:grpSp>
      <p:grpSp>
        <p:nvGrpSpPr>
          <p:cNvPr id="55" name="Group 55"/>
          <p:cNvGrpSpPr/>
          <p:nvPr/>
        </p:nvGrpSpPr>
        <p:grpSpPr>
          <a:xfrm>
            <a:off x="1593193" y="7934323"/>
            <a:ext cx="3493720" cy="1909321"/>
            <a:chOff x="0" y="0"/>
            <a:chExt cx="890798" cy="502866"/>
          </a:xfrm>
        </p:grpSpPr>
        <p:sp>
          <p:nvSpPr>
            <p:cNvPr id="56" name="Freeform 56"/>
            <p:cNvSpPr/>
            <p:nvPr/>
          </p:nvSpPr>
          <p:spPr>
            <a:xfrm>
              <a:off x="0" y="0"/>
              <a:ext cx="890798" cy="502866"/>
            </a:xfrm>
            <a:custGeom>
              <a:avLst/>
              <a:gdLst/>
              <a:ahLst/>
              <a:cxnLst/>
              <a:rect l="l" t="t" r="r" b="b"/>
              <a:pathLst>
                <a:path w="890798" h="502866">
                  <a:moveTo>
                    <a:pt x="0" y="0"/>
                  </a:moveTo>
                  <a:lnTo>
                    <a:pt x="890798" y="0"/>
                  </a:lnTo>
                  <a:lnTo>
                    <a:pt x="890798"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57" name="TextBox 57"/>
            <p:cNvSpPr txBox="1"/>
            <p:nvPr/>
          </p:nvSpPr>
          <p:spPr>
            <a:xfrm>
              <a:off x="0" y="-38100"/>
              <a:ext cx="890798"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58" name="Group 58"/>
          <p:cNvGrpSpPr/>
          <p:nvPr/>
        </p:nvGrpSpPr>
        <p:grpSpPr>
          <a:xfrm>
            <a:off x="5232618" y="7953373"/>
            <a:ext cx="4673334" cy="1909321"/>
            <a:chOff x="0" y="0"/>
            <a:chExt cx="1230837" cy="502866"/>
          </a:xfrm>
        </p:grpSpPr>
        <p:sp>
          <p:nvSpPr>
            <p:cNvPr id="59" name="Freeform 59"/>
            <p:cNvSpPr/>
            <p:nvPr/>
          </p:nvSpPr>
          <p:spPr>
            <a:xfrm>
              <a:off x="0" y="0"/>
              <a:ext cx="1230837" cy="502866"/>
            </a:xfrm>
            <a:custGeom>
              <a:avLst/>
              <a:gdLst/>
              <a:ahLst/>
              <a:cxnLst/>
              <a:rect l="l" t="t" r="r" b="b"/>
              <a:pathLst>
                <a:path w="1230837" h="502866">
                  <a:moveTo>
                    <a:pt x="0" y="0"/>
                  </a:moveTo>
                  <a:lnTo>
                    <a:pt x="1230837" y="0"/>
                  </a:lnTo>
                  <a:lnTo>
                    <a:pt x="1230837"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60" name="TextBox 60"/>
            <p:cNvSpPr txBox="1"/>
            <p:nvPr/>
          </p:nvSpPr>
          <p:spPr>
            <a:xfrm>
              <a:off x="0" y="-38100"/>
              <a:ext cx="1230837"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61" name="Group 61"/>
          <p:cNvGrpSpPr/>
          <p:nvPr/>
        </p:nvGrpSpPr>
        <p:grpSpPr>
          <a:xfrm>
            <a:off x="10077401" y="7953373"/>
            <a:ext cx="3883613" cy="1909321"/>
            <a:chOff x="0" y="0"/>
            <a:chExt cx="1022845" cy="502866"/>
          </a:xfrm>
        </p:grpSpPr>
        <p:sp>
          <p:nvSpPr>
            <p:cNvPr id="62" name="Freeform 62"/>
            <p:cNvSpPr/>
            <p:nvPr/>
          </p:nvSpPr>
          <p:spPr>
            <a:xfrm>
              <a:off x="0" y="0"/>
              <a:ext cx="1022845" cy="502866"/>
            </a:xfrm>
            <a:custGeom>
              <a:avLst/>
              <a:gdLst/>
              <a:ahLst/>
              <a:cxnLst/>
              <a:rect l="l" t="t" r="r" b="b"/>
              <a:pathLst>
                <a:path w="1022845" h="502866">
                  <a:moveTo>
                    <a:pt x="0" y="0"/>
                  </a:moveTo>
                  <a:lnTo>
                    <a:pt x="1022845" y="0"/>
                  </a:lnTo>
                  <a:lnTo>
                    <a:pt x="1022845"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63" name="TextBox 63"/>
            <p:cNvSpPr txBox="1"/>
            <p:nvPr/>
          </p:nvSpPr>
          <p:spPr>
            <a:xfrm>
              <a:off x="0" y="-38100"/>
              <a:ext cx="1022845" cy="540966"/>
            </a:xfrm>
            <a:prstGeom prst="rect">
              <a:avLst/>
            </a:prstGeom>
          </p:spPr>
          <p:txBody>
            <a:bodyPr lIns="50800" tIns="50800" rIns="50800" bIns="50800" rtlCol="0" anchor="ctr"/>
            <a:lstStyle/>
            <a:p>
              <a:pPr algn="ctr">
                <a:lnSpc>
                  <a:spcPts val="2659"/>
                </a:lnSpc>
                <a:spcBef>
                  <a:spcPct val="0"/>
                </a:spcBef>
              </a:pPr>
              <a:endParaRPr/>
            </a:p>
          </p:txBody>
        </p:sp>
      </p:grpSp>
      <p:grpSp>
        <p:nvGrpSpPr>
          <p:cNvPr id="64" name="Group 64"/>
          <p:cNvGrpSpPr/>
          <p:nvPr/>
        </p:nvGrpSpPr>
        <p:grpSpPr>
          <a:xfrm>
            <a:off x="14132464" y="7953373"/>
            <a:ext cx="3838599" cy="1909321"/>
            <a:chOff x="0" y="0"/>
            <a:chExt cx="1010989" cy="502866"/>
          </a:xfrm>
        </p:grpSpPr>
        <p:sp>
          <p:nvSpPr>
            <p:cNvPr id="65" name="Freeform 65"/>
            <p:cNvSpPr/>
            <p:nvPr/>
          </p:nvSpPr>
          <p:spPr>
            <a:xfrm>
              <a:off x="0" y="0"/>
              <a:ext cx="1010989" cy="502866"/>
            </a:xfrm>
            <a:custGeom>
              <a:avLst/>
              <a:gdLst/>
              <a:ahLst/>
              <a:cxnLst/>
              <a:rect l="l" t="t" r="r" b="b"/>
              <a:pathLst>
                <a:path w="1010989" h="502866">
                  <a:moveTo>
                    <a:pt x="0" y="0"/>
                  </a:moveTo>
                  <a:lnTo>
                    <a:pt x="1010989" y="0"/>
                  </a:lnTo>
                  <a:lnTo>
                    <a:pt x="1010989" y="502866"/>
                  </a:lnTo>
                  <a:lnTo>
                    <a:pt x="0" y="502866"/>
                  </a:lnTo>
                  <a:close/>
                </a:path>
              </a:pathLst>
            </a:custGeom>
            <a:solidFill>
              <a:srgbClr val="000000">
                <a:alpha val="0"/>
              </a:srgbClr>
            </a:solidFill>
            <a:ln w="9525" cap="sq">
              <a:solidFill>
                <a:srgbClr val="D9D9D9"/>
              </a:solidFill>
              <a:prstDash val="solid"/>
              <a:miter/>
            </a:ln>
          </p:spPr>
          <p:txBody>
            <a:bodyPr/>
            <a:lstStyle/>
            <a:p>
              <a:endParaRPr lang="en-CH"/>
            </a:p>
          </p:txBody>
        </p:sp>
        <p:sp>
          <p:nvSpPr>
            <p:cNvPr id="66" name="TextBox 66"/>
            <p:cNvSpPr txBox="1"/>
            <p:nvPr/>
          </p:nvSpPr>
          <p:spPr>
            <a:xfrm>
              <a:off x="0" y="-38100"/>
              <a:ext cx="1010989" cy="540966"/>
            </a:xfrm>
            <a:prstGeom prst="rect">
              <a:avLst/>
            </a:prstGeom>
          </p:spPr>
          <p:txBody>
            <a:bodyPr lIns="50800" tIns="50800" rIns="50800" bIns="50800" rtlCol="0" anchor="ctr"/>
            <a:lstStyle/>
            <a:p>
              <a:pPr algn="ctr">
                <a:lnSpc>
                  <a:spcPts val="2659"/>
                </a:lnSpc>
                <a:spcBef>
                  <a:spcPct val="0"/>
                </a:spcBef>
              </a:pPr>
              <a:endParaRPr/>
            </a:p>
          </p:txBody>
        </p:sp>
      </p:grpSp>
      <p:sp>
        <p:nvSpPr>
          <p:cNvPr id="67" name="TextBox 67"/>
          <p:cNvSpPr txBox="1"/>
          <p:nvPr/>
        </p:nvSpPr>
        <p:spPr>
          <a:xfrm>
            <a:off x="555064" y="124470"/>
            <a:ext cx="10872232" cy="1161408"/>
          </a:xfrm>
          <a:prstGeom prst="rect">
            <a:avLst/>
          </a:prstGeom>
        </p:spPr>
        <p:txBody>
          <a:bodyPr wrap="square" lIns="0" tIns="0" rIns="0" bIns="0" rtlCol="0" anchor="t">
            <a:spAutoFit/>
          </a:bodyPr>
          <a:lstStyle/>
          <a:p>
            <a:pPr>
              <a:lnSpc>
                <a:spcPts val="9660"/>
              </a:lnSpc>
            </a:pPr>
            <a:r>
              <a:rPr lang="en-US" sz="6900" dirty="0">
                <a:solidFill>
                  <a:srgbClr val="000000"/>
                </a:solidFill>
                <a:latin typeface="Canva Sans"/>
                <a:ea typeface="Canva Sans"/>
                <a:cs typeface="Canva Sans"/>
                <a:sym typeface="Canva Sans"/>
              </a:rPr>
              <a:t>The KM Network Charter</a:t>
            </a:r>
          </a:p>
        </p:txBody>
      </p:sp>
      <p:sp>
        <p:nvSpPr>
          <p:cNvPr id="68" name="TextBox 68"/>
          <p:cNvSpPr txBox="1"/>
          <p:nvPr/>
        </p:nvSpPr>
        <p:spPr>
          <a:xfrm rot="-5400000">
            <a:off x="-240596" y="2526586"/>
            <a:ext cx="2327098" cy="770921"/>
          </a:xfrm>
          <a:prstGeom prst="rect">
            <a:avLst/>
          </a:prstGeom>
        </p:spPr>
        <p:txBody>
          <a:bodyPr lIns="0" tIns="0" rIns="0" bIns="0" rtlCol="0" anchor="t">
            <a:spAutoFit/>
          </a:bodyPr>
          <a:lstStyle/>
          <a:p>
            <a:pPr algn="ctr">
              <a:lnSpc>
                <a:spcPts val="6333"/>
              </a:lnSpc>
            </a:pPr>
            <a:r>
              <a:rPr lang="en-US" sz="4523">
                <a:solidFill>
                  <a:srgbClr val="000000"/>
                </a:solidFill>
                <a:latin typeface="Canva Sans"/>
                <a:ea typeface="Canva Sans"/>
                <a:cs typeface="Canva Sans"/>
                <a:sym typeface="Canva Sans"/>
              </a:rPr>
              <a:t>Purpose</a:t>
            </a:r>
          </a:p>
        </p:txBody>
      </p:sp>
      <p:sp>
        <p:nvSpPr>
          <p:cNvPr id="69" name="TextBox 69"/>
          <p:cNvSpPr txBox="1"/>
          <p:nvPr/>
        </p:nvSpPr>
        <p:spPr>
          <a:xfrm rot="-5400000">
            <a:off x="-216074" y="5340560"/>
            <a:ext cx="2327098" cy="770921"/>
          </a:xfrm>
          <a:prstGeom prst="rect">
            <a:avLst/>
          </a:prstGeom>
        </p:spPr>
        <p:txBody>
          <a:bodyPr lIns="0" tIns="0" rIns="0" bIns="0" rtlCol="0" anchor="t">
            <a:spAutoFit/>
          </a:bodyPr>
          <a:lstStyle/>
          <a:p>
            <a:pPr algn="ctr">
              <a:lnSpc>
                <a:spcPts val="6333"/>
              </a:lnSpc>
            </a:pPr>
            <a:r>
              <a:rPr lang="en-US" sz="4523">
                <a:solidFill>
                  <a:srgbClr val="000000"/>
                </a:solidFill>
                <a:latin typeface="Canva Sans"/>
                <a:ea typeface="Canva Sans"/>
                <a:cs typeface="Canva Sans"/>
                <a:sym typeface="Canva Sans"/>
              </a:rPr>
              <a:t>People</a:t>
            </a:r>
          </a:p>
        </p:txBody>
      </p:sp>
      <p:sp>
        <p:nvSpPr>
          <p:cNvPr id="70" name="TextBox 70"/>
          <p:cNvSpPr txBox="1"/>
          <p:nvPr/>
        </p:nvSpPr>
        <p:spPr>
          <a:xfrm rot="-5400000">
            <a:off x="-216074" y="8174686"/>
            <a:ext cx="2327098" cy="770921"/>
          </a:xfrm>
          <a:prstGeom prst="rect">
            <a:avLst/>
          </a:prstGeom>
        </p:spPr>
        <p:txBody>
          <a:bodyPr lIns="0" tIns="0" rIns="0" bIns="0" rtlCol="0" anchor="t">
            <a:spAutoFit/>
          </a:bodyPr>
          <a:lstStyle/>
          <a:p>
            <a:pPr algn="ctr">
              <a:lnSpc>
                <a:spcPts val="6333"/>
              </a:lnSpc>
            </a:pPr>
            <a:r>
              <a:rPr lang="en-US" sz="4523">
                <a:solidFill>
                  <a:srgbClr val="000000"/>
                </a:solidFill>
                <a:latin typeface="Canva Sans"/>
                <a:ea typeface="Canva Sans"/>
                <a:cs typeface="Canva Sans"/>
                <a:sym typeface="Canva Sans"/>
              </a:rPr>
              <a:t>Practice</a:t>
            </a:r>
          </a:p>
        </p:txBody>
      </p:sp>
      <p:sp>
        <p:nvSpPr>
          <p:cNvPr id="71" name="TextBox 71"/>
          <p:cNvSpPr txBox="1"/>
          <p:nvPr/>
        </p:nvSpPr>
        <p:spPr>
          <a:xfrm>
            <a:off x="1733134" y="1554570"/>
            <a:ext cx="6254879" cy="572800"/>
          </a:xfrm>
          <a:prstGeom prst="rect">
            <a:avLst/>
          </a:prstGeom>
        </p:spPr>
        <p:txBody>
          <a:bodyPr lIns="0" tIns="0" rIns="0" bIns="0" rtlCol="0" anchor="t">
            <a:spAutoFit/>
          </a:bodyPr>
          <a:lstStyle/>
          <a:p>
            <a:pPr algn="l">
              <a:lnSpc>
                <a:spcPts val="4653"/>
              </a:lnSpc>
            </a:pPr>
            <a:r>
              <a:rPr lang="en-US" sz="3323">
                <a:solidFill>
                  <a:srgbClr val="000000"/>
                </a:solidFill>
                <a:latin typeface="Canva Sans"/>
                <a:ea typeface="Canva Sans"/>
                <a:cs typeface="Canva Sans"/>
                <a:sym typeface="Canva Sans"/>
              </a:rPr>
              <a:t>Background and Purpose</a:t>
            </a:r>
          </a:p>
        </p:txBody>
      </p:sp>
      <p:sp>
        <p:nvSpPr>
          <p:cNvPr id="72" name="TextBox 72"/>
          <p:cNvSpPr txBox="1"/>
          <p:nvPr/>
        </p:nvSpPr>
        <p:spPr>
          <a:xfrm>
            <a:off x="13225860" y="1587838"/>
            <a:ext cx="1875092" cy="572800"/>
          </a:xfrm>
          <a:prstGeom prst="rect">
            <a:avLst/>
          </a:prstGeom>
        </p:spPr>
        <p:txBody>
          <a:bodyPr lIns="0" tIns="0" rIns="0" bIns="0" rtlCol="0" anchor="t">
            <a:spAutoFit/>
          </a:bodyPr>
          <a:lstStyle/>
          <a:p>
            <a:pPr algn="l">
              <a:lnSpc>
                <a:spcPts val="4653"/>
              </a:lnSpc>
            </a:pPr>
            <a:r>
              <a:rPr lang="en-US" sz="3323">
                <a:solidFill>
                  <a:srgbClr val="000000"/>
                </a:solidFill>
                <a:latin typeface="Canva Sans"/>
                <a:ea typeface="Canva Sans"/>
                <a:cs typeface="Canva Sans"/>
                <a:sym typeface="Canva Sans"/>
              </a:rPr>
              <a:t>Domain</a:t>
            </a:r>
          </a:p>
        </p:txBody>
      </p:sp>
      <p:sp>
        <p:nvSpPr>
          <p:cNvPr id="73" name="TextBox 73"/>
          <p:cNvSpPr txBox="1"/>
          <p:nvPr/>
        </p:nvSpPr>
        <p:spPr>
          <a:xfrm>
            <a:off x="1733134" y="4352921"/>
            <a:ext cx="4587131" cy="572800"/>
          </a:xfrm>
          <a:prstGeom prst="rect">
            <a:avLst/>
          </a:prstGeom>
        </p:spPr>
        <p:txBody>
          <a:bodyPr lIns="0" tIns="0" rIns="0" bIns="0" rtlCol="0" anchor="t">
            <a:spAutoFit/>
          </a:bodyPr>
          <a:lstStyle/>
          <a:p>
            <a:pPr algn="l">
              <a:lnSpc>
                <a:spcPts val="4653"/>
              </a:lnSpc>
            </a:pPr>
            <a:r>
              <a:rPr lang="en-US" sz="3323">
                <a:solidFill>
                  <a:srgbClr val="000000"/>
                </a:solidFill>
                <a:latin typeface="Canva Sans"/>
                <a:ea typeface="Canva Sans"/>
                <a:cs typeface="Canva Sans"/>
                <a:sym typeface="Canva Sans"/>
              </a:rPr>
              <a:t>Membership</a:t>
            </a:r>
          </a:p>
        </p:txBody>
      </p:sp>
      <p:sp>
        <p:nvSpPr>
          <p:cNvPr id="74" name="TextBox 74"/>
          <p:cNvSpPr txBox="1"/>
          <p:nvPr/>
        </p:nvSpPr>
        <p:spPr>
          <a:xfrm>
            <a:off x="7612386" y="4378247"/>
            <a:ext cx="4587131" cy="572800"/>
          </a:xfrm>
          <a:prstGeom prst="rect">
            <a:avLst/>
          </a:prstGeom>
        </p:spPr>
        <p:txBody>
          <a:bodyPr lIns="0" tIns="0" rIns="0" bIns="0" rtlCol="0" anchor="t">
            <a:spAutoFit/>
          </a:bodyPr>
          <a:lstStyle/>
          <a:p>
            <a:pPr algn="l">
              <a:lnSpc>
                <a:spcPts val="4653"/>
              </a:lnSpc>
            </a:pPr>
            <a:r>
              <a:rPr lang="en-US" sz="3323">
                <a:solidFill>
                  <a:srgbClr val="000000"/>
                </a:solidFill>
                <a:latin typeface="Canva Sans"/>
                <a:ea typeface="Canva Sans"/>
                <a:cs typeface="Canva Sans"/>
                <a:sym typeface="Canva Sans"/>
              </a:rPr>
              <a:t>Operating Model</a:t>
            </a:r>
          </a:p>
        </p:txBody>
      </p:sp>
      <p:sp>
        <p:nvSpPr>
          <p:cNvPr id="75" name="TextBox 75"/>
          <p:cNvSpPr txBox="1"/>
          <p:nvPr/>
        </p:nvSpPr>
        <p:spPr>
          <a:xfrm>
            <a:off x="13225860" y="4387772"/>
            <a:ext cx="4587131" cy="572800"/>
          </a:xfrm>
          <a:prstGeom prst="rect">
            <a:avLst/>
          </a:prstGeom>
        </p:spPr>
        <p:txBody>
          <a:bodyPr lIns="0" tIns="0" rIns="0" bIns="0" rtlCol="0" anchor="t">
            <a:spAutoFit/>
          </a:bodyPr>
          <a:lstStyle/>
          <a:p>
            <a:pPr algn="l">
              <a:lnSpc>
                <a:spcPts val="4653"/>
              </a:lnSpc>
            </a:pPr>
            <a:r>
              <a:rPr lang="en-US" sz="3323">
                <a:solidFill>
                  <a:srgbClr val="000000"/>
                </a:solidFill>
                <a:latin typeface="Canva Sans"/>
                <a:ea typeface="Canva Sans"/>
                <a:cs typeface="Canva Sans"/>
                <a:sym typeface="Canva Sans"/>
              </a:rPr>
              <a:t>Behaviours</a:t>
            </a:r>
          </a:p>
        </p:txBody>
      </p:sp>
      <p:sp>
        <p:nvSpPr>
          <p:cNvPr id="76" name="TextBox 76"/>
          <p:cNvSpPr txBox="1"/>
          <p:nvPr/>
        </p:nvSpPr>
        <p:spPr>
          <a:xfrm>
            <a:off x="1733134" y="7348971"/>
            <a:ext cx="3127440" cy="349250"/>
          </a:xfrm>
          <a:prstGeom prst="rect">
            <a:avLst/>
          </a:prstGeom>
        </p:spPr>
        <p:txBody>
          <a:bodyPr lIns="0" tIns="0" rIns="0" bIns="0" rtlCol="0" anchor="t">
            <a:spAutoFit/>
          </a:bodyPr>
          <a:lstStyle/>
          <a:p>
            <a:pPr algn="l">
              <a:lnSpc>
                <a:spcPts val="2800"/>
              </a:lnSpc>
            </a:pPr>
            <a:r>
              <a:rPr lang="en-US" sz="2000" dirty="0">
                <a:solidFill>
                  <a:srgbClr val="000000"/>
                </a:solidFill>
                <a:latin typeface="Canva Sans"/>
                <a:ea typeface="Canva Sans"/>
                <a:cs typeface="Canva Sans"/>
                <a:sym typeface="Canva Sans"/>
              </a:rPr>
              <a:t>Content &amp; Programming</a:t>
            </a:r>
          </a:p>
        </p:txBody>
      </p:sp>
      <p:sp>
        <p:nvSpPr>
          <p:cNvPr id="77" name="TextBox 77"/>
          <p:cNvSpPr txBox="1"/>
          <p:nvPr/>
        </p:nvSpPr>
        <p:spPr>
          <a:xfrm>
            <a:off x="5375493" y="7348971"/>
            <a:ext cx="4426877" cy="349250"/>
          </a:xfrm>
          <a:prstGeom prst="rect">
            <a:avLst/>
          </a:prstGeom>
        </p:spPr>
        <p:txBody>
          <a:bodyPr lIns="0" tIns="0" rIns="0" bIns="0" rtlCol="0" anchor="t">
            <a:spAutoFit/>
          </a:bodyPr>
          <a:lstStyle/>
          <a:p>
            <a:pPr algn="l">
              <a:lnSpc>
                <a:spcPts val="2800"/>
              </a:lnSpc>
            </a:pPr>
            <a:r>
              <a:rPr lang="en-US" sz="2000">
                <a:solidFill>
                  <a:srgbClr val="000000"/>
                </a:solidFill>
                <a:latin typeface="Canva Sans"/>
                <a:ea typeface="Canva Sans"/>
                <a:cs typeface="Canva Sans"/>
                <a:sym typeface="Canva Sans"/>
              </a:rPr>
              <a:t>Platform &amp; Other convening venues</a:t>
            </a:r>
          </a:p>
        </p:txBody>
      </p:sp>
      <p:sp>
        <p:nvSpPr>
          <p:cNvPr id="78" name="TextBox 78"/>
          <p:cNvSpPr txBox="1"/>
          <p:nvPr/>
        </p:nvSpPr>
        <p:spPr>
          <a:xfrm>
            <a:off x="10163126" y="7348971"/>
            <a:ext cx="3062733" cy="349250"/>
          </a:xfrm>
          <a:prstGeom prst="rect">
            <a:avLst/>
          </a:prstGeom>
        </p:spPr>
        <p:txBody>
          <a:bodyPr lIns="0" tIns="0" rIns="0" bIns="0" rtlCol="0" anchor="t">
            <a:spAutoFit/>
          </a:bodyPr>
          <a:lstStyle/>
          <a:p>
            <a:pPr algn="l">
              <a:lnSpc>
                <a:spcPts val="2800"/>
              </a:lnSpc>
            </a:pPr>
            <a:r>
              <a:rPr lang="en-US" sz="2000">
                <a:solidFill>
                  <a:srgbClr val="000000"/>
                </a:solidFill>
                <a:latin typeface="Canva Sans"/>
                <a:ea typeface="Canva Sans"/>
                <a:cs typeface="Canva Sans"/>
                <a:sym typeface="Canva Sans"/>
              </a:rPr>
              <a:t>Resources</a:t>
            </a:r>
          </a:p>
        </p:txBody>
      </p:sp>
      <p:sp>
        <p:nvSpPr>
          <p:cNvPr id="79" name="TextBox 79"/>
          <p:cNvSpPr txBox="1"/>
          <p:nvPr/>
        </p:nvSpPr>
        <p:spPr>
          <a:xfrm>
            <a:off x="14322964" y="7348971"/>
            <a:ext cx="3062733" cy="349250"/>
          </a:xfrm>
          <a:prstGeom prst="rect">
            <a:avLst/>
          </a:prstGeom>
        </p:spPr>
        <p:txBody>
          <a:bodyPr lIns="0" tIns="0" rIns="0" bIns="0" rtlCol="0" anchor="t">
            <a:spAutoFit/>
          </a:bodyPr>
          <a:lstStyle/>
          <a:p>
            <a:pPr algn="l">
              <a:lnSpc>
                <a:spcPts val="2800"/>
              </a:lnSpc>
            </a:pPr>
            <a:r>
              <a:rPr lang="en-US" sz="2000">
                <a:solidFill>
                  <a:srgbClr val="000000"/>
                </a:solidFill>
                <a:latin typeface="Canva Sans"/>
                <a:ea typeface="Canva Sans"/>
                <a:cs typeface="Canva Sans"/>
                <a:sym typeface="Canva Sans"/>
              </a:rPr>
              <a:t>Measurement &amp; ROI</a:t>
            </a:r>
          </a:p>
        </p:txBody>
      </p:sp>
      <p:sp>
        <p:nvSpPr>
          <p:cNvPr id="80" name="TextBox 80"/>
          <p:cNvSpPr txBox="1"/>
          <p:nvPr/>
        </p:nvSpPr>
        <p:spPr>
          <a:xfrm>
            <a:off x="1733134" y="2377767"/>
            <a:ext cx="11206975" cy="1680588"/>
          </a:xfrm>
          <a:prstGeom prst="rect">
            <a:avLst/>
          </a:prstGeom>
        </p:spPr>
        <p:txBody>
          <a:bodyPr lIns="0" tIns="0" rIns="0" bIns="0" rtlCol="0" anchor="t">
            <a:spAutoFit/>
          </a:bodyPr>
          <a:lstStyle/>
          <a:p>
            <a:r>
              <a:rPr lang="en-US" sz="1200" dirty="0">
                <a:solidFill>
                  <a:srgbClr val="000000"/>
                </a:solidFill>
                <a:ea typeface="+mn-lt"/>
                <a:cs typeface="+mn-lt"/>
                <a:sym typeface="Canva Sans Italics"/>
              </a:rPr>
              <a:t>The KM Network of Focal Points was created to support the World Trade Organization (WTO) Secretariat’s growing interest and investment in knowledge management (KM). As the organization evolves in how it captures, shares, and reuses knowledge, the network provides a structured yet flexible space for staff to:</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Learn about KM concepts and tools</a:t>
            </a:r>
            <a:endParaRPr lang="en-US" dirty="0"/>
          </a:p>
          <a:p>
            <a:pPr marL="285750" indent="-285750">
              <a:buFont typeface="Arial"/>
              <a:buChar char="•"/>
            </a:pPr>
            <a:r>
              <a:rPr lang="en-US" sz="1200" dirty="0">
                <a:solidFill>
                  <a:srgbClr val="000000"/>
                </a:solidFill>
                <a:ea typeface="+mn-lt"/>
                <a:cs typeface="+mn-lt"/>
                <a:sym typeface="Canva Sans Italics"/>
              </a:rPr>
              <a:t>Improve the use of methods that support knowledge capture, exchange, and retention</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Provide input on digital tool enhancements to make work more efficient</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Share experiences and practices across divisions</a:t>
            </a:r>
            <a:endParaRPr lang="en-US" dirty="0">
              <a:sym typeface="Canva Sans Italics"/>
            </a:endParaRPr>
          </a:p>
          <a:p>
            <a:r>
              <a:rPr lang="en-US" sz="1200" dirty="0">
                <a:solidFill>
                  <a:srgbClr val="000000"/>
                </a:solidFill>
                <a:ea typeface="+mn-lt"/>
                <a:cs typeface="+mn-lt"/>
                <a:sym typeface="Canva Sans Italics"/>
              </a:rPr>
              <a:t>The network addresses a business need to strengthen internal knowledge flows, reduce duplication, and enable learning across organizational boundaries, ultimately supporting more informed decision-making and institutional memory.</a:t>
            </a:r>
            <a:endParaRPr lang="en-US" dirty="0"/>
          </a:p>
          <a:p>
            <a:pPr algn="l">
              <a:lnSpc>
                <a:spcPts val="1679"/>
              </a:lnSpc>
            </a:pPr>
            <a:endParaRPr lang="en-US" sz="1200" i="1" dirty="0">
              <a:solidFill>
                <a:srgbClr val="000000"/>
              </a:solidFill>
              <a:latin typeface="Canva Sans Italics"/>
              <a:ea typeface="Canva Sans Italics"/>
              <a:cs typeface="Canva Sans Italics"/>
            </a:endParaRPr>
          </a:p>
        </p:txBody>
      </p:sp>
      <p:sp>
        <p:nvSpPr>
          <p:cNvPr id="81" name="TextBox 81"/>
          <p:cNvSpPr txBox="1"/>
          <p:nvPr/>
        </p:nvSpPr>
        <p:spPr>
          <a:xfrm>
            <a:off x="13225860" y="2432311"/>
            <a:ext cx="4587131" cy="1898597"/>
          </a:xfrm>
          <a:prstGeom prst="rect">
            <a:avLst/>
          </a:prstGeom>
        </p:spPr>
        <p:txBody>
          <a:bodyPr lIns="0" tIns="0" rIns="0" bIns="0" rtlCol="0" anchor="t">
            <a:spAutoFit/>
          </a:bodyPr>
          <a:lstStyle/>
          <a:p>
            <a:r>
              <a:rPr lang="en-US" sz="1200" dirty="0">
                <a:solidFill>
                  <a:srgbClr val="000000"/>
                </a:solidFill>
                <a:ea typeface="+mn-lt"/>
                <a:cs typeface="+mn-lt"/>
                <a:sym typeface="Canva Sans Italics"/>
              </a:rPr>
              <a:t>The network focuses on areas including:</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Understanding and applying KM practices and tools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Improving workflows and use of digital platforms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Strengthening knowledge capture and documentation</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Supporting cross-divisional learning and collaboration</a:t>
            </a:r>
            <a:endParaRPr lang="en-US" dirty="0"/>
          </a:p>
          <a:p>
            <a:pPr marL="285750" indent="-285750">
              <a:buFont typeface="Arial"/>
              <a:buChar char="•"/>
            </a:pPr>
            <a:r>
              <a:rPr lang="en-US" sz="1200" dirty="0">
                <a:solidFill>
                  <a:srgbClr val="000000"/>
                </a:solidFill>
                <a:ea typeface="+mn-lt"/>
                <a:cs typeface="+mn-lt"/>
                <a:sym typeface="Canva Sans Italics"/>
              </a:rPr>
              <a:t>Enhancing access to relevant knowledge at the point of need</a:t>
            </a:r>
            <a:endParaRPr lang="en-US" dirty="0"/>
          </a:p>
          <a:p>
            <a:r>
              <a:rPr lang="en-US" sz="1200" dirty="0">
                <a:solidFill>
                  <a:srgbClr val="000000"/>
                </a:solidFill>
                <a:ea typeface="+mn-lt"/>
                <a:cs typeface="+mn-lt"/>
                <a:sym typeface="Canva Sans Italics"/>
              </a:rPr>
              <a:t>Out of scope are technical discussions on trade content unless related to how that knowledge is managed, stored, or shared.</a:t>
            </a:r>
            <a:endParaRPr lang="en-US" dirty="0"/>
          </a:p>
          <a:p>
            <a:pPr algn="l">
              <a:lnSpc>
                <a:spcPts val="1679"/>
              </a:lnSpc>
            </a:pPr>
            <a:endParaRPr lang="en-US" sz="1200" i="1" dirty="0">
              <a:solidFill>
                <a:srgbClr val="000000"/>
              </a:solidFill>
              <a:latin typeface="Canva Sans Italics"/>
              <a:ea typeface="Canva Sans Italics"/>
              <a:cs typeface="Canva Sans Italics"/>
            </a:endParaRPr>
          </a:p>
          <a:p>
            <a:pPr algn="l">
              <a:lnSpc>
                <a:spcPts val="1679"/>
              </a:lnSpc>
            </a:pPr>
            <a:endParaRPr lang="en-US" sz="1200" i="1" dirty="0">
              <a:solidFill>
                <a:srgbClr val="000000"/>
              </a:solidFill>
              <a:latin typeface="Canva Sans Italics"/>
              <a:ea typeface="Canva Sans Italics"/>
              <a:cs typeface="Canva Sans Italics"/>
              <a:sym typeface="Canva Sans Italics"/>
            </a:endParaRPr>
          </a:p>
        </p:txBody>
      </p:sp>
      <p:sp>
        <p:nvSpPr>
          <p:cNvPr id="82" name="TextBox 82"/>
          <p:cNvSpPr txBox="1"/>
          <p:nvPr/>
        </p:nvSpPr>
        <p:spPr>
          <a:xfrm>
            <a:off x="1733134" y="5233547"/>
            <a:ext cx="5284131" cy="1661993"/>
          </a:xfrm>
          <a:prstGeom prst="rect">
            <a:avLst/>
          </a:prstGeom>
        </p:spPr>
        <p:txBody>
          <a:bodyPr lIns="0" tIns="0" rIns="0" bIns="0" rtlCol="0" anchor="t">
            <a:spAutoFit/>
          </a:bodyPr>
          <a:lstStyle/>
          <a:p>
            <a:r>
              <a:rPr lang="en-US" sz="1200" dirty="0">
                <a:solidFill>
                  <a:srgbClr val="000000"/>
                </a:solidFill>
                <a:ea typeface="+mn-lt"/>
                <a:cs typeface="+mn-lt"/>
                <a:sym typeface="Canva Sans Italics"/>
              </a:rPr>
              <a:t>Membership is </a:t>
            </a:r>
            <a:r>
              <a:rPr lang="en-US" sz="1200" b="1" dirty="0">
                <a:solidFill>
                  <a:srgbClr val="000000"/>
                </a:solidFill>
                <a:ea typeface="+mn-lt"/>
                <a:cs typeface="+mn-lt"/>
                <a:sym typeface="Canva Sans Italics"/>
              </a:rPr>
              <a:t>open</a:t>
            </a:r>
            <a:r>
              <a:rPr lang="en-US" sz="1200" dirty="0">
                <a:solidFill>
                  <a:srgbClr val="000000"/>
                </a:solidFill>
                <a:ea typeface="+mn-lt"/>
                <a:cs typeface="+mn-lt"/>
                <a:sym typeface="Canva Sans Italics"/>
              </a:rPr>
              <a:t> to all staff of the WTO Secretariat, regardless of title or grade. While each division has a designated KM focal point, </a:t>
            </a:r>
            <a:r>
              <a:rPr lang="en-US" sz="1200" b="1" dirty="0">
                <a:solidFill>
                  <a:srgbClr val="000000"/>
                </a:solidFill>
                <a:ea typeface="+mn-lt"/>
                <a:cs typeface="+mn-lt"/>
                <a:sym typeface="Canva Sans Italics"/>
              </a:rPr>
              <a:t>any staff member with an interest in KM can join</a:t>
            </a:r>
            <a:r>
              <a:rPr lang="en-US" sz="1200" dirty="0">
                <a:solidFill>
                  <a:srgbClr val="000000"/>
                </a:solidFill>
                <a:ea typeface="+mn-lt"/>
                <a:cs typeface="+mn-lt"/>
                <a:sym typeface="Canva Sans Italics"/>
              </a:rPr>
              <a:t>.</a:t>
            </a:r>
            <a:endParaRPr lang="en-US" dirty="0"/>
          </a:p>
          <a:p>
            <a:endParaRPr lang="en-US" sz="1200" dirty="0">
              <a:solidFill>
                <a:srgbClr val="000000"/>
              </a:solidFill>
              <a:ea typeface="+mn-lt"/>
              <a:cs typeface="+mn-lt"/>
              <a:sym typeface="Canva Sans Italics"/>
            </a:endParaRPr>
          </a:p>
          <a:p>
            <a:r>
              <a:rPr lang="en-US" sz="1200" dirty="0">
                <a:solidFill>
                  <a:srgbClr val="000000"/>
                </a:solidFill>
                <a:ea typeface="+mn-lt"/>
                <a:cs typeface="+mn-lt"/>
                <a:sym typeface="Canva Sans Italics"/>
              </a:rPr>
              <a:t>Members are encouraged to:</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Participate in bi-monthly meetings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Share practices, ideas, and challenges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Submit topic requests through an open form</a:t>
            </a:r>
            <a:endParaRPr lang="en-US" dirty="0"/>
          </a:p>
          <a:p>
            <a:pPr marL="285750" indent="-285750">
              <a:buFont typeface="Arial"/>
              <a:buChar char="•"/>
            </a:pPr>
            <a:r>
              <a:rPr lang="en-US" sz="1200" dirty="0">
                <a:solidFill>
                  <a:srgbClr val="000000"/>
                </a:solidFill>
                <a:ea typeface="+mn-lt"/>
                <a:cs typeface="+mn-lt"/>
                <a:sym typeface="Canva Sans Italics"/>
              </a:rPr>
              <a:t>Contribute to the design and improvement of KM tools and guidance</a:t>
            </a:r>
            <a:endParaRPr lang="en-US" dirty="0"/>
          </a:p>
        </p:txBody>
      </p:sp>
      <p:sp>
        <p:nvSpPr>
          <p:cNvPr id="83" name="TextBox 83"/>
          <p:cNvSpPr txBox="1"/>
          <p:nvPr/>
        </p:nvSpPr>
        <p:spPr>
          <a:xfrm>
            <a:off x="7655979" y="5233547"/>
            <a:ext cx="4785365" cy="1661993"/>
          </a:xfrm>
          <a:prstGeom prst="rect">
            <a:avLst/>
          </a:prstGeom>
        </p:spPr>
        <p:txBody>
          <a:bodyPr wrap="square" lIns="0" tIns="0" rIns="0" bIns="0" rtlCol="0" anchor="t">
            <a:spAutoFit/>
          </a:bodyPr>
          <a:lstStyle/>
          <a:p>
            <a:pPr marL="285750" indent="-285750">
              <a:buFont typeface="Arial"/>
              <a:buChar char="•"/>
            </a:pPr>
            <a:r>
              <a:rPr lang="en-US" sz="1200" dirty="0">
                <a:solidFill>
                  <a:srgbClr val="000000"/>
                </a:solidFill>
                <a:ea typeface="+mn-lt"/>
                <a:cs typeface="+mn-lt"/>
                <a:sym typeface="Canva Sans Italics"/>
              </a:rPr>
              <a:t>The network is </a:t>
            </a:r>
            <a:r>
              <a:rPr lang="en-US" sz="1200" b="1" dirty="0">
                <a:solidFill>
                  <a:srgbClr val="000000"/>
                </a:solidFill>
                <a:ea typeface="+mn-lt"/>
                <a:cs typeface="+mn-lt"/>
                <a:sym typeface="Canva Sans Italics"/>
              </a:rPr>
              <a:t>voluntary</a:t>
            </a:r>
            <a:r>
              <a:rPr lang="en-US" sz="1200" dirty="0">
                <a:solidFill>
                  <a:srgbClr val="000000"/>
                </a:solidFill>
                <a:ea typeface="+mn-lt"/>
                <a:cs typeface="+mn-lt"/>
                <a:sym typeface="Canva Sans Italics"/>
              </a:rPr>
              <a:t> and operates on a light coordination model led by the central KM team.</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Meetings are held </a:t>
            </a:r>
            <a:r>
              <a:rPr lang="en-US" sz="1200" b="1" dirty="0">
                <a:solidFill>
                  <a:srgbClr val="000000"/>
                </a:solidFill>
                <a:ea typeface="+mn-lt"/>
                <a:cs typeface="+mn-lt"/>
                <a:sym typeface="Canva Sans Italics"/>
              </a:rPr>
              <a:t>every two months</a:t>
            </a:r>
            <a:r>
              <a:rPr lang="en-US" sz="1200" dirty="0">
                <a:solidFill>
                  <a:srgbClr val="000000"/>
                </a:solidFill>
                <a:ea typeface="+mn-lt"/>
                <a:cs typeface="+mn-lt"/>
                <a:sym typeface="Canva Sans Italics"/>
              </a:rPr>
              <a:t>, guided by topics suggested by members through an ongoing form.</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Decisions about programming are co-created with members.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Core team roles include the KM lead (facilitator), division focal points, and rotating presenters or champions.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Subgroups or working sessions may emerge organically to tackle shared challenges.</a:t>
            </a:r>
            <a:endParaRPr lang="en-US" dirty="0"/>
          </a:p>
        </p:txBody>
      </p:sp>
      <p:sp>
        <p:nvSpPr>
          <p:cNvPr id="84" name="TextBox 84"/>
          <p:cNvSpPr txBox="1"/>
          <p:nvPr/>
        </p:nvSpPr>
        <p:spPr>
          <a:xfrm>
            <a:off x="13111560" y="5233547"/>
            <a:ext cx="4785365" cy="1865254"/>
          </a:xfrm>
          <a:prstGeom prst="rect">
            <a:avLst/>
          </a:prstGeom>
        </p:spPr>
        <p:txBody>
          <a:bodyPr wrap="square" lIns="0" tIns="0" rIns="0" bIns="0" rtlCol="0" anchor="t">
            <a:spAutoFit/>
          </a:bodyPr>
          <a:lstStyle/>
          <a:p>
            <a:r>
              <a:rPr lang="en-US" sz="1200" dirty="0">
                <a:solidFill>
                  <a:srgbClr val="000000"/>
                </a:solidFill>
                <a:ea typeface="+mn-lt"/>
                <a:cs typeface="+mn-lt"/>
                <a:sym typeface="Canva Sans Italics"/>
              </a:rPr>
              <a:t>The KM Network fosters a </a:t>
            </a:r>
            <a:r>
              <a:rPr lang="en-US" sz="1200" b="1" dirty="0">
                <a:solidFill>
                  <a:srgbClr val="000000"/>
                </a:solidFill>
                <a:ea typeface="+mn-lt"/>
                <a:cs typeface="+mn-lt"/>
                <a:sym typeface="Canva Sans Italics"/>
              </a:rPr>
              <a:t>safe and open learning space</a:t>
            </a:r>
            <a:r>
              <a:rPr lang="en-US" sz="1200" dirty="0">
                <a:solidFill>
                  <a:srgbClr val="000000"/>
                </a:solidFill>
                <a:ea typeface="+mn-lt"/>
                <a:cs typeface="+mn-lt"/>
                <a:sym typeface="Canva Sans Italics"/>
              </a:rPr>
              <a:t> where members are expected to:</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Share knowledge openly and respectfully</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Be curious and proactive learners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Support one another through active listening and constructive feedback</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Celebrate experimentation, including what didn’t work</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Promote collaboration across silos</a:t>
            </a:r>
            <a:endParaRPr lang="en-US" dirty="0"/>
          </a:p>
          <a:p>
            <a:r>
              <a:rPr lang="en-US" sz="1200" dirty="0">
                <a:solidFill>
                  <a:srgbClr val="000000"/>
                </a:solidFill>
                <a:ea typeface="+mn-lt"/>
                <a:cs typeface="+mn-lt"/>
                <a:sym typeface="Canva Sans Italics"/>
              </a:rPr>
              <a:t>The KM team encourages these behaviors by creating engaging, participatory spaces and recognizing contributors.</a:t>
            </a:r>
            <a:endParaRPr lang="en-US" dirty="0">
              <a:sym typeface="Canva Sans Italics"/>
            </a:endParaRPr>
          </a:p>
          <a:p>
            <a:pPr algn="l">
              <a:lnSpc>
                <a:spcPts val="1679"/>
              </a:lnSpc>
            </a:pPr>
            <a:endParaRPr lang="en-US" sz="1200" i="1" dirty="0">
              <a:solidFill>
                <a:srgbClr val="000000"/>
              </a:solidFill>
              <a:latin typeface="Canva Sans Italics"/>
              <a:ea typeface="Canva Sans Italics"/>
              <a:cs typeface="Canva Sans Italics"/>
            </a:endParaRPr>
          </a:p>
        </p:txBody>
      </p:sp>
      <p:sp>
        <p:nvSpPr>
          <p:cNvPr id="85" name="TextBox 85"/>
          <p:cNvSpPr txBox="1"/>
          <p:nvPr/>
        </p:nvSpPr>
        <p:spPr>
          <a:xfrm>
            <a:off x="1656433" y="8007038"/>
            <a:ext cx="3494062" cy="2049920"/>
          </a:xfrm>
          <a:prstGeom prst="rect">
            <a:avLst/>
          </a:prstGeom>
        </p:spPr>
        <p:txBody>
          <a:bodyPr wrap="square" lIns="0" tIns="0" rIns="0" bIns="0" rtlCol="0" anchor="t">
            <a:spAutoFit/>
          </a:bodyPr>
          <a:lstStyle/>
          <a:p>
            <a:r>
              <a:rPr lang="en-US" sz="1200" dirty="0">
                <a:solidFill>
                  <a:srgbClr val="000000"/>
                </a:solidFill>
                <a:ea typeface="+mn-lt"/>
                <a:cs typeface="+mn-lt"/>
                <a:sym typeface="Canva Sans Italics"/>
              </a:rPr>
              <a:t>Programming is shaped by members and may include:</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How-to sessions on KM tools and techniques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Showcases of good practices from different divisions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Discussions on challenges and peer advice</a:t>
            </a:r>
            <a:endParaRPr lang="en-US" dirty="0"/>
          </a:p>
          <a:p>
            <a:pPr marL="285750" indent="-285750">
              <a:buFont typeface="Arial"/>
              <a:buChar char="•"/>
            </a:pPr>
            <a:r>
              <a:rPr lang="en-US" sz="1200" dirty="0">
                <a:solidFill>
                  <a:srgbClr val="000000"/>
                </a:solidFill>
                <a:ea typeface="+mn-lt"/>
                <a:cs typeface="+mn-lt"/>
                <a:sym typeface="Canva Sans Italics"/>
              </a:rPr>
              <a:t>Demos of new or improved digital platforms</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Guest sessions with KM experts or innovators</a:t>
            </a:r>
            <a:endParaRPr lang="en-US" dirty="0">
              <a:sym typeface="Canva Sans Italics"/>
            </a:endParaRPr>
          </a:p>
          <a:p>
            <a:r>
              <a:rPr lang="en-US" sz="1200" dirty="0">
                <a:solidFill>
                  <a:srgbClr val="000000"/>
                </a:solidFill>
                <a:ea typeface="+mn-lt"/>
                <a:cs typeface="+mn-lt"/>
                <a:sym typeface="Canva Sans Italics"/>
              </a:rPr>
              <a:t>A shared calendar and note archive will keep track of what’s been covered and help identify gaps or new areas of interest.</a:t>
            </a:r>
            <a:endParaRPr lang="en-US" dirty="0">
              <a:sym typeface="Canva Sans Italics"/>
            </a:endParaRPr>
          </a:p>
          <a:p>
            <a:pPr algn="l">
              <a:lnSpc>
                <a:spcPts val="1679"/>
              </a:lnSpc>
            </a:pPr>
            <a:endParaRPr lang="en-US" sz="1200" i="1" dirty="0">
              <a:solidFill>
                <a:srgbClr val="000000"/>
              </a:solidFill>
              <a:latin typeface="Canva Sans Italics"/>
              <a:ea typeface="Canva Sans Italics"/>
              <a:cs typeface="Canva Sans Italics"/>
            </a:endParaRPr>
          </a:p>
        </p:txBody>
      </p:sp>
      <p:sp>
        <p:nvSpPr>
          <p:cNvPr id="86" name="TextBox 86"/>
          <p:cNvSpPr txBox="1"/>
          <p:nvPr/>
        </p:nvSpPr>
        <p:spPr>
          <a:xfrm>
            <a:off x="5375493" y="8000998"/>
            <a:ext cx="4312009" cy="1311256"/>
          </a:xfrm>
          <a:prstGeom prst="rect">
            <a:avLst/>
          </a:prstGeom>
        </p:spPr>
        <p:txBody>
          <a:bodyPr lIns="0" tIns="0" rIns="0" bIns="0" rtlCol="0" anchor="t">
            <a:spAutoFit/>
          </a:bodyPr>
          <a:lstStyle/>
          <a:p>
            <a:r>
              <a:rPr lang="en-US" sz="1200">
                <a:solidFill>
                  <a:srgbClr val="000000"/>
                </a:solidFill>
                <a:ea typeface="+mn-lt"/>
                <a:cs typeface="+mn-lt"/>
                <a:sym typeface="Canva Sans Italics"/>
              </a:rPr>
              <a:t>Main platform: </a:t>
            </a:r>
            <a:r>
              <a:rPr lang="en-US" sz="1200" dirty="0">
                <a:solidFill>
                  <a:srgbClr val="000000"/>
                </a:solidFill>
                <a:ea typeface="+mn-lt"/>
                <a:cs typeface="+mn-lt"/>
                <a:sym typeface="Canva Sans Italics"/>
                <a:hlinkClick r:id="rId3"/>
              </a:rPr>
              <a:t>KM Collaborative Platform</a:t>
            </a:r>
            <a:r>
              <a:rPr lang="en-US" sz="1200">
                <a:solidFill>
                  <a:srgbClr val="000000"/>
                </a:solidFill>
                <a:ea typeface="+mn-lt"/>
                <a:cs typeface="+mn-lt"/>
                <a:sym typeface="Canva Sans Italics"/>
              </a:rPr>
              <a:t> with shared resources and discussions</a:t>
            </a:r>
            <a:endParaRPr lang="en-US">
              <a:ea typeface="Calibri"/>
              <a:cs typeface="Calibri"/>
            </a:endParaRPr>
          </a:p>
          <a:p>
            <a:pPr marL="285750" indent="-285750">
              <a:buFont typeface="Arial"/>
              <a:buChar char="•"/>
            </a:pPr>
            <a:r>
              <a:rPr lang="en-US" sz="1200" dirty="0">
                <a:solidFill>
                  <a:srgbClr val="000000"/>
                </a:solidFill>
                <a:ea typeface="+mn-lt"/>
                <a:cs typeface="+mn-lt"/>
                <a:sym typeface="Canva Sans Italics"/>
              </a:rPr>
              <a:t>Meetings hosted via</a:t>
            </a:r>
            <a:r>
              <a:rPr lang="en-US" sz="1200" b="1" dirty="0">
                <a:solidFill>
                  <a:srgbClr val="000000"/>
                </a:solidFill>
                <a:ea typeface="+mn-lt"/>
                <a:cs typeface="+mn-lt"/>
                <a:sym typeface="Canva Sans Italics"/>
              </a:rPr>
              <a:t> Teams</a:t>
            </a:r>
            <a:endParaRPr lang="en-US" b="1" dirty="0">
              <a:ea typeface="+mn-lt"/>
              <a:cs typeface="+mn-lt"/>
              <a:sym typeface="Canva Sans Italics"/>
            </a:endParaRPr>
          </a:p>
          <a:p>
            <a:pPr marL="285750" indent="-285750">
              <a:buFont typeface="Arial"/>
              <a:buChar char="•"/>
            </a:pPr>
            <a:r>
              <a:rPr lang="en-US" sz="1200" dirty="0">
                <a:solidFill>
                  <a:srgbClr val="000000"/>
                </a:solidFill>
                <a:ea typeface="+mn-lt"/>
                <a:cs typeface="+mn-lt"/>
                <a:sym typeface="Canva Sans Italics"/>
              </a:rPr>
              <a:t>Bi-monthly </a:t>
            </a:r>
            <a:r>
              <a:rPr lang="en-US" sz="1200" b="1" dirty="0">
                <a:solidFill>
                  <a:srgbClr val="000000"/>
                </a:solidFill>
                <a:ea typeface="+mn-lt"/>
                <a:cs typeface="+mn-lt"/>
                <a:sym typeface="Canva Sans Italics"/>
              </a:rPr>
              <a:t>in-person</a:t>
            </a:r>
            <a:r>
              <a:rPr lang="en-US" sz="1200" dirty="0">
                <a:solidFill>
                  <a:srgbClr val="000000"/>
                </a:solidFill>
                <a:ea typeface="+mn-lt"/>
                <a:cs typeface="+mn-lt"/>
                <a:sym typeface="Canva Sans Italics"/>
              </a:rPr>
              <a:t> or hybrid sessions, </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Communication through email updates and KM team announcements on Intranet and the KM Platform</a:t>
            </a:r>
            <a:endParaRPr lang="en-US" dirty="0"/>
          </a:p>
          <a:p>
            <a:pPr algn="l">
              <a:lnSpc>
                <a:spcPts val="1679"/>
              </a:lnSpc>
            </a:pPr>
            <a:endParaRPr lang="en-US" sz="1200" i="1" dirty="0">
              <a:solidFill>
                <a:srgbClr val="000000"/>
              </a:solidFill>
              <a:latin typeface="Canva Sans Italics"/>
              <a:ea typeface="Canva Sans Italics"/>
              <a:cs typeface="Canva Sans Italics"/>
            </a:endParaRPr>
          </a:p>
        </p:txBody>
      </p:sp>
      <p:sp>
        <p:nvSpPr>
          <p:cNvPr id="87" name="TextBox 87"/>
          <p:cNvSpPr txBox="1"/>
          <p:nvPr/>
        </p:nvSpPr>
        <p:spPr>
          <a:xfrm>
            <a:off x="10220276" y="8048623"/>
            <a:ext cx="3595033" cy="1898597"/>
          </a:xfrm>
          <a:prstGeom prst="rect">
            <a:avLst/>
          </a:prstGeom>
        </p:spPr>
        <p:txBody>
          <a:bodyPr lIns="0" tIns="0" rIns="0" bIns="0" rtlCol="0" anchor="t">
            <a:spAutoFit/>
          </a:bodyPr>
          <a:lstStyle/>
          <a:p>
            <a:pPr marL="285750" indent="-285750">
              <a:buFont typeface="Arial"/>
              <a:buChar char="•"/>
            </a:pPr>
            <a:r>
              <a:rPr lang="en-US" sz="1200">
                <a:solidFill>
                  <a:srgbClr val="000000"/>
                </a:solidFill>
                <a:ea typeface="+mn-lt"/>
                <a:cs typeface="+mn-lt"/>
                <a:sym typeface="Canva Sans Italics"/>
              </a:rPr>
              <a:t>The KM team provides </a:t>
            </a:r>
            <a:r>
              <a:rPr lang="en-US" sz="1200" b="1">
                <a:solidFill>
                  <a:srgbClr val="000000"/>
                </a:solidFill>
                <a:ea typeface="+mn-lt"/>
                <a:cs typeface="+mn-lt"/>
                <a:sym typeface="Canva Sans Italics"/>
              </a:rPr>
              <a:t>facilitation, content curation, and coordination</a:t>
            </a:r>
            <a:r>
              <a:rPr lang="en-US" sz="1200">
                <a:solidFill>
                  <a:srgbClr val="000000"/>
                </a:solidFill>
                <a:ea typeface="+mn-lt"/>
                <a:cs typeface="+mn-lt"/>
                <a:sym typeface="Canva Sans Italics"/>
              </a:rPr>
              <a:t>.</a:t>
            </a:r>
            <a:endParaRPr lang="en-US">
              <a:sym typeface="Canva Sans Italics"/>
            </a:endParaRPr>
          </a:p>
          <a:p>
            <a:pPr marL="285750" indent="-285750">
              <a:buFont typeface="Arial"/>
              <a:buChar char="•"/>
            </a:pPr>
            <a:r>
              <a:rPr lang="en-US" sz="1200">
                <a:solidFill>
                  <a:srgbClr val="000000"/>
                </a:solidFill>
                <a:ea typeface="+mn-lt"/>
                <a:cs typeface="+mn-lt"/>
                <a:sym typeface="Canva Sans Italics"/>
              </a:rPr>
              <a:t>Divisions contribute through focal point participation.</a:t>
            </a:r>
            <a:endParaRPr lang="en-US">
              <a:sym typeface="Canva Sans Italics"/>
            </a:endParaRPr>
          </a:p>
          <a:p>
            <a:pPr marL="285750" indent="-285750">
              <a:buFont typeface="Arial"/>
              <a:buChar char="•"/>
            </a:pPr>
            <a:r>
              <a:rPr lang="en-US" sz="1200">
                <a:solidFill>
                  <a:srgbClr val="000000"/>
                </a:solidFill>
                <a:ea typeface="+mn-lt"/>
                <a:cs typeface="+mn-lt"/>
                <a:sym typeface="Canva Sans Italics"/>
              </a:rPr>
              <a:t>Occasional needs may include:</a:t>
            </a:r>
            <a:endParaRPr lang="en-US">
              <a:sym typeface="Canva Sans Italics"/>
            </a:endParaRPr>
          </a:p>
          <a:p>
            <a:pPr marL="742950" lvl="1" indent="-285750">
              <a:buFont typeface="Courier New"/>
              <a:buChar char="o"/>
            </a:pPr>
            <a:r>
              <a:rPr lang="en-US" sz="1200" dirty="0">
                <a:solidFill>
                  <a:srgbClr val="000000"/>
                </a:solidFill>
                <a:ea typeface="+mn-lt"/>
                <a:cs typeface="+mn-lt"/>
                <a:sym typeface="Canva Sans Italics"/>
              </a:rPr>
              <a:t>Time from staff for presentations or co-design</a:t>
            </a:r>
            <a:endParaRPr lang="en-US" dirty="0">
              <a:ea typeface="Calibri"/>
              <a:cs typeface="Calibri"/>
            </a:endParaRPr>
          </a:p>
          <a:p>
            <a:pPr marL="742950" lvl="1" indent="-285750">
              <a:buFont typeface="Courier New"/>
              <a:buChar char="o"/>
            </a:pPr>
            <a:r>
              <a:rPr lang="en-US" sz="1200">
                <a:solidFill>
                  <a:srgbClr val="000000"/>
                </a:solidFill>
                <a:ea typeface="+mn-lt"/>
                <a:cs typeface="+mn-lt"/>
                <a:sym typeface="Canva Sans Italics"/>
              </a:rPr>
              <a:t>Light funding for events or external speakers (as needed)</a:t>
            </a:r>
            <a:endParaRPr lang="en-US">
              <a:ea typeface="Calibri"/>
              <a:cs typeface="Calibri"/>
            </a:endParaRPr>
          </a:p>
          <a:p>
            <a:pPr marL="742950" lvl="1" indent="-285750">
              <a:buFont typeface="Courier New"/>
              <a:buChar char="o"/>
            </a:pPr>
            <a:r>
              <a:rPr lang="en-US" sz="1200">
                <a:solidFill>
                  <a:srgbClr val="000000"/>
                </a:solidFill>
                <a:ea typeface="+mn-lt"/>
                <a:cs typeface="+mn-lt"/>
                <a:sym typeface="Canva Sans Italics"/>
              </a:rPr>
              <a:t>IT support for improving or piloting KM tools</a:t>
            </a:r>
            <a:endParaRPr lang="en-US">
              <a:ea typeface="Calibri"/>
              <a:cs typeface="Calibri"/>
            </a:endParaRPr>
          </a:p>
          <a:p>
            <a:pPr algn="l">
              <a:lnSpc>
                <a:spcPts val="1679"/>
              </a:lnSpc>
            </a:pPr>
            <a:endParaRPr lang="en-US" sz="1200" i="1" dirty="0">
              <a:solidFill>
                <a:srgbClr val="000000"/>
              </a:solidFill>
              <a:latin typeface="Canva Sans Italics"/>
              <a:ea typeface="Canva Sans Italics"/>
              <a:cs typeface="Canva Sans Italics"/>
            </a:endParaRPr>
          </a:p>
          <a:p>
            <a:pPr algn="l">
              <a:lnSpc>
                <a:spcPts val="1679"/>
              </a:lnSpc>
            </a:pPr>
            <a:endParaRPr lang="en-US" sz="1200" i="1">
              <a:solidFill>
                <a:srgbClr val="000000"/>
              </a:solidFill>
              <a:latin typeface="Canva Sans Italics"/>
              <a:ea typeface="Canva Sans Italics"/>
              <a:cs typeface="Canva Sans Italics"/>
              <a:sym typeface="Canva Sans Italics"/>
            </a:endParaRPr>
          </a:p>
        </p:txBody>
      </p:sp>
      <p:sp>
        <p:nvSpPr>
          <p:cNvPr id="88" name="TextBox 88"/>
          <p:cNvSpPr txBox="1"/>
          <p:nvPr/>
        </p:nvSpPr>
        <p:spPr>
          <a:xfrm>
            <a:off x="14156726" y="7997515"/>
            <a:ext cx="3843042" cy="2049920"/>
          </a:xfrm>
          <a:prstGeom prst="rect">
            <a:avLst/>
          </a:prstGeom>
        </p:spPr>
        <p:txBody>
          <a:bodyPr wrap="square" lIns="0" tIns="0" rIns="0" bIns="0" rtlCol="0" anchor="t">
            <a:spAutoFit/>
          </a:bodyPr>
          <a:lstStyle/>
          <a:p>
            <a:pPr marL="285750" indent="-285750">
              <a:buFont typeface="Arial"/>
              <a:buChar char="•"/>
            </a:pPr>
            <a:r>
              <a:rPr lang="en-US" sz="1200" dirty="0">
                <a:solidFill>
                  <a:srgbClr val="000000"/>
                </a:solidFill>
                <a:ea typeface="+mn-lt"/>
                <a:cs typeface="+mn-lt"/>
                <a:sym typeface="Canva Sans Italics"/>
              </a:rPr>
              <a:t>Member participation and diversity of engagement across divisions</a:t>
            </a:r>
            <a:endParaRPr lang="en-US" dirty="0"/>
          </a:p>
          <a:p>
            <a:pPr marL="285750" indent="-285750">
              <a:buFont typeface="Arial"/>
              <a:buChar char="•"/>
            </a:pPr>
            <a:r>
              <a:rPr lang="en-US" sz="1200" dirty="0">
                <a:solidFill>
                  <a:srgbClr val="000000"/>
                </a:solidFill>
                <a:ea typeface="+mn-lt"/>
                <a:cs typeface="+mn-lt"/>
                <a:sym typeface="Canva Sans Italics"/>
              </a:rPr>
              <a:t>Feedback on quality of sessions held</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Member satisfaction (short surveys, informal feedback)</a:t>
            </a:r>
            <a:endParaRPr lang="en-US" dirty="0">
              <a:sym typeface="Canva Sans Italics"/>
            </a:endParaRPr>
          </a:p>
          <a:p>
            <a:pPr marL="285750" indent="-285750">
              <a:buFont typeface="Arial"/>
              <a:buChar char="•"/>
            </a:pPr>
            <a:r>
              <a:rPr lang="en-US" sz="1200" dirty="0">
                <a:solidFill>
                  <a:srgbClr val="000000"/>
                </a:solidFill>
                <a:ea typeface="+mn-lt"/>
                <a:cs typeface="+mn-lt"/>
                <a:sym typeface="Canva Sans Italics"/>
              </a:rPr>
              <a:t>Evidence of learning application (e.g., KM tools adopted, lessons shared)</a:t>
            </a:r>
            <a:endParaRPr lang="en-US" dirty="0"/>
          </a:p>
          <a:p>
            <a:pPr marL="285750" indent="-285750">
              <a:buFont typeface="Arial"/>
              <a:buChar char="•"/>
            </a:pPr>
            <a:r>
              <a:rPr lang="en-US" sz="1200" dirty="0">
                <a:solidFill>
                  <a:srgbClr val="000000"/>
                </a:solidFill>
                <a:ea typeface="+mn-lt"/>
                <a:cs typeface="+mn-lt"/>
                <a:sym typeface="Canva Sans Italics"/>
              </a:rPr>
              <a:t>Contribution to broader KM goals (e.g., reduced duplication, better onboarding, increased efficiency)</a:t>
            </a:r>
            <a:endParaRPr lang="en-US" dirty="0">
              <a:ea typeface="+mn-lt"/>
              <a:cs typeface="+mn-lt"/>
              <a:sym typeface="Canva Sans Italics"/>
            </a:endParaRPr>
          </a:p>
          <a:p>
            <a:r>
              <a:rPr lang="en-US" sz="1200" dirty="0">
                <a:solidFill>
                  <a:srgbClr val="000000"/>
                </a:solidFill>
                <a:ea typeface="+mn-lt"/>
                <a:cs typeface="+mn-lt"/>
                <a:sym typeface="Canva Sans Italics"/>
              </a:rPr>
              <a:t>A brief yearly report will summarize outcomes, reflections, and plans for the next cycle.</a:t>
            </a:r>
            <a:endParaRPr lang="en-US" dirty="0">
              <a:sym typeface="Canva Sans Italics"/>
            </a:endParaRPr>
          </a:p>
          <a:p>
            <a:pPr algn="l">
              <a:lnSpc>
                <a:spcPts val="1679"/>
              </a:lnSpc>
            </a:pPr>
            <a:endParaRPr lang="en-US" sz="1200" i="1">
              <a:solidFill>
                <a:srgbClr val="000000"/>
              </a:solidFill>
              <a:latin typeface="Canva Sans Italics"/>
              <a:ea typeface="Canva Sans Italics"/>
              <a:cs typeface="Canva Sans Italics"/>
            </a:endParaRPr>
          </a:p>
        </p:txBody>
      </p:sp>
      <p:sp>
        <p:nvSpPr>
          <p:cNvPr id="89" name="TextBox 89"/>
          <p:cNvSpPr txBox="1"/>
          <p:nvPr/>
        </p:nvSpPr>
        <p:spPr>
          <a:xfrm>
            <a:off x="9511999" y="10015094"/>
            <a:ext cx="8606620" cy="174625"/>
          </a:xfrm>
          <a:prstGeom prst="rect">
            <a:avLst/>
          </a:prstGeom>
        </p:spPr>
        <p:txBody>
          <a:bodyPr lIns="0" tIns="0" rIns="0" bIns="0" rtlCol="0" anchor="t">
            <a:spAutoFit/>
          </a:bodyPr>
          <a:lstStyle/>
          <a:p>
            <a:pPr algn="l">
              <a:lnSpc>
                <a:spcPts val="1400"/>
              </a:lnSpc>
            </a:pPr>
            <a:r>
              <a:rPr lang="en-US" sz="1000" i="1">
                <a:solidFill>
                  <a:srgbClr val="000000"/>
                </a:solidFill>
                <a:latin typeface="Canva Sans Italics"/>
                <a:ea typeface="Canva Sans Italics"/>
                <a:cs typeface="Canva Sans Italics"/>
                <a:sym typeface="Canva Sans Italics"/>
              </a:rPr>
              <a:t>Adapted from examples from Syngenta, Mars, the World Bank CoP Strengthening Initiative, Étienne Wenger, and CMX Community Canvas.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TUSGUID" val="bc437071-f1fe-443a-a90b-6da9c8b86feb"/>
  <p:tag name="WTOCLASSIFICATION" val="INTERN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YPEOFDOCUMENT xmlns="ded2d35f-cb3b-447d-aca2-a987a620119e" xsi:nil="true"/>
    <lcf76f155ced4ddcb4097134ff3c332f xmlns="ded2d35f-cb3b-447d-aca2-a987a620119e">
      <Terms xmlns="http://schemas.microsoft.com/office/infopath/2007/PartnerControls"/>
    </lcf76f155ced4ddcb4097134ff3c332f>
    <TaxCatchAll xmlns="f283101a-dac8-4fc8-bf7b-c805965a089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7DB26C7A42A3B45A3F5B749511A01B6" ma:contentTypeVersion="13" ma:contentTypeDescription="Create a new document." ma:contentTypeScope="" ma:versionID="6b91794254894ea135d0c36d8d705d6a">
  <xsd:schema xmlns:xsd="http://www.w3.org/2001/XMLSchema" xmlns:xs="http://www.w3.org/2001/XMLSchema" xmlns:p="http://schemas.microsoft.com/office/2006/metadata/properties" xmlns:ns2="ded2d35f-cb3b-447d-aca2-a987a620119e" xmlns:ns3="f283101a-dac8-4fc8-bf7b-c805965a0894" targetNamespace="http://schemas.microsoft.com/office/2006/metadata/properties" ma:root="true" ma:fieldsID="235a4221734ddeb8504724c88269a076" ns2:_="" ns3:_="">
    <xsd:import namespace="ded2d35f-cb3b-447d-aca2-a987a620119e"/>
    <xsd:import namespace="f283101a-dac8-4fc8-bf7b-c805965a0894"/>
    <xsd:element name="properties">
      <xsd:complexType>
        <xsd:sequence>
          <xsd:element name="documentManagement">
            <xsd:complexType>
              <xsd:all>
                <xsd:element ref="ns2:TYPEOFDOCUMENT"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d2d35f-cb3b-447d-aca2-a987a620119e" elementFormDefault="qualified">
    <xsd:import namespace="http://schemas.microsoft.com/office/2006/documentManagement/types"/>
    <xsd:import namespace="http://schemas.microsoft.com/office/infopath/2007/PartnerControls"/>
    <xsd:element name="TYPEOFDOCUMENT" ma:index="8" nillable="true" ma:displayName="TYPE OF DOCUMENT" ma:format="Dropdown" ma:internalName="TYPEOFDOCUMENT">
      <xsd:simpleType>
        <xsd:restriction base="dms:Choice">
          <xsd:enumeration value="Choice 1"/>
          <xsd:enumeration value="Choice 2"/>
          <xsd:enumeration value="Choice 3"/>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4d9716d2-1e9a-4d8a-bd59-f3428348abf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83101a-dac8-4fc8-bf7b-c805965a08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590d6df7-ae5f-4dee-b1d5-0d910659a2e3}" ma:internalName="TaxCatchAll" ma:showField="CatchAllData" ma:web="f283101a-dac8-4fc8-bf7b-c805965a08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itus xmlns="http://schemas.titus.com/TitusProperties/">
  <TitusGUID xmlns="">bc437071-f1fe-443a-a90b-6da9c8b86feb</TitusGUID>
  <TitusMetadata xmlns="">eyJucyI6Imh0dHA6XC9cL3d3dy50aXR1cy5jb21cL25zXC9Xb3JsZCBUcmFkZSBPcmdhbml6YXRpb24iLCJwcm9wcyI6W3sibiI6IldUT0NMQVNTSUZJQ0FUSU9OIiwidmFscyI6W3sidmFsdWUiOiJJTlRFUk5BTCJ9XX1dfQ==</TitusMetadata>
</titus>
</file>

<file path=customXml/itemProps1.xml><?xml version="1.0" encoding="utf-8"?>
<ds:datastoreItem xmlns:ds="http://schemas.openxmlformats.org/officeDocument/2006/customXml" ds:itemID="{B0B20AB1-45FB-4391-B1F3-5C420C3726BF}">
  <ds:schemaRefs>
    <ds:schemaRef ds:uri="http://schemas.microsoft.com/office/2006/metadata/properties"/>
    <ds:schemaRef ds:uri="http://schemas.microsoft.com/office/infopath/2007/PartnerControls"/>
    <ds:schemaRef ds:uri="ded2d35f-cb3b-447d-aca2-a987a620119e"/>
    <ds:schemaRef ds:uri="f283101a-dac8-4fc8-bf7b-c805965a0894"/>
  </ds:schemaRefs>
</ds:datastoreItem>
</file>

<file path=customXml/itemProps2.xml><?xml version="1.0" encoding="utf-8"?>
<ds:datastoreItem xmlns:ds="http://schemas.openxmlformats.org/officeDocument/2006/customXml" ds:itemID="{A9220E3E-4ECC-4B2A-B33D-8D1325144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d2d35f-cb3b-447d-aca2-a987a620119e"/>
    <ds:schemaRef ds:uri="f283101a-dac8-4fc8-bf7b-c805965a08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B934F2-9284-41BC-BD28-99823796208A}">
  <ds:schemaRefs>
    <ds:schemaRef ds:uri="http://schemas.microsoft.com/sharepoint/v3/contenttype/forms"/>
  </ds:schemaRefs>
</ds:datastoreItem>
</file>

<file path=customXml/itemProps4.xml><?xml version="1.0" encoding="utf-8"?>
<ds:datastoreItem xmlns:ds="http://schemas.openxmlformats.org/officeDocument/2006/customXml" ds:itemID="{703266FA-D895-4A77-96C8-095C2340097A}">
  <ds:schemaRefs>
    <ds:schemaRef ds:uri="http://schemas.titus.com/TitusProperties/"/>
  </ds:schemaRefs>
</ds:datastoreItem>
</file>

<file path=docProps/app.xml><?xml version="1.0" encoding="utf-8"?>
<Properties xmlns="http://schemas.openxmlformats.org/officeDocument/2006/extended-properties" xmlns:vt="http://schemas.openxmlformats.org/officeDocument/2006/docPropsVTypes">
  <TotalTime>4</TotalTime>
  <Words>673</Words>
  <Application>Microsoft Office PowerPoint</Application>
  <PresentationFormat>Custom</PresentationFormat>
  <Paragraphs>69</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Courier New</vt:lpstr>
      <vt:lpstr>Microsoft Sans Serif</vt:lpstr>
      <vt:lpstr>Canva Sans Italics</vt:lpstr>
      <vt:lpstr>Calibri</vt:lpstr>
      <vt:lpstr>Canva Sans</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CoP Charter</dc:title>
  <cp:lastModifiedBy>Martinez Cotto, Sergio Alfredo</cp:lastModifiedBy>
  <cp:revision>41</cp:revision>
  <dcterms:created xsi:type="dcterms:W3CDTF">2006-08-16T00:00:00Z</dcterms:created>
  <dcterms:modified xsi:type="dcterms:W3CDTF">2025-12-10T10:07:01Z</dcterms:modified>
  <dc:identifier>DAGiqD-HjmE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0x01010097DB26C7A42A3B45A3F5B749511A01B6</vt:lpwstr>
  </property>
  <property fmtid="{D5CDD505-2E9C-101B-9397-08002B2CF9AE}" pid="3" name="MediaServiceImageTags">
    <vt:lpwstr/>
  </property>
  <property fmtid="{D5CDD505-2E9C-101B-9397-08002B2CF9AE}" pid="4" name="TitusGUID">
    <vt:lpwstr>bc437071-f1fe-443a-a90b-6da9c8b86feb</vt:lpwstr>
  </property>
  <property fmtid="{D5CDD505-2E9C-101B-9397-08002B2CF9AE}" pid="5" name="WTOCLASSIFICATION">
    <vt:lpwstr>INTERNAL</vt:lpwstr>
  </property>
</Properties>
</file>